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72" r:id="rId2"/>
  </p:sldMasterIdLst>
  <p:notesMasterIdLst>
    <p:notesMasterId r:id="rId25"/>
  </p:notesMasterIdLst>
  <p:sldIdLst>
    <p:sldId id="266" r:id="rId3"/>
    <p:sldId id="712" r:id="rId4"/>
    <p:sldId id="713" r:id="rId5"/>
    <p:sldId id="715" r:id="rId6"/>
    <p:sldId id="716" r:id="rId7"/>
    <p:sldId id="725" r:id="rId8"/>
    <p:sldId id="726" r:id="rId9"/>
    <p:sldId id="728" r:id="rId10"/>
    <p:sldId id="736" r:id="rId11"/>
    <p:sldId id="737" r:id="rId12"/>
    <p:sldId id="729" r:id="rId13"/>
    <p:sldId id="741" r:id="rId14"/>
    <p:sldId id="742" r:id="rId15"/>
    <p:sldId id="730" r:id="rId16"/>
    <p:sldId id="732" r:id="rId17"/>
    <p:sldId id="717" r:id="rId18"/>
    <p:sldId id="735" r:id="rId19"/>
    <p:sldId id="739" r:id="rId20"/>
    <p:sldId id="734" r:id="rId21"/>
    <p:sldId id="733" r:id="rId22"/>
    <p:sldId id="722" r:id="rId23"/>
    <p:sldId id="71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38BC2D-663C-E333-36C9-7D9C58D33FDF}" name="GARRIDO ROMERO FELIPE A" initials="GRFA" userId="S::f.garridoromero@uandresbello.edu::37e690ce-144d-41a7-bcf3-6068b15ea40e" providerId="AD"/>
  <p188:author id="{40830A34-AE44-5618-C78D-3D295AD27E5C}" name="Felipe Antonio" initials="FA" userId="7b92c82a6ebd6de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AB1929"/>
    <a:srgbClr val="FF0099"/>
    <a:srgbClr val="8CBFE6"/>
    <a:srgbClr val="EAE0D1"/>
    <a:srgbClr val="F5EBDC"/>
    <a:srgbClr val="D940B3"/>
    <a:srgbClr val="B380CC"/>
    <a:srgbClr val="E956FF"/>
    <a:srgbClr val="EA5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45" autoAdjust="0"/>
    <p:restoredTop sz="91381" autoAdjust="0"/>
  </p:normalViewPr>
  <p:slideViewPr>
    <p:cSldViewPr snapToGrid="0" snapToObjects="1">
      <p:cViewPr varScale="1">
        <p:scale>
          <a:sx n="148" d="100"/>
          <a:sy n="148" d="100"/>
        </p:scale>
        <p:origin x="114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82982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649E-FA1B-BE97-FA7D-D8D36BEC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2ED6EA-E251-4EC1-B844-95A53F1C0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C8310EB-2876-48F4-4A91-A9F94063E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81DB05-C981-0984-EFA8-40819F619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2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57436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1947-74A8-FB5E-B7E4-1697B2FA1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D11CEA-DB0A-0719-8FF1-254F1E58C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499F62-7B8C-EFBC-D30D-95897BCDE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69F924-6A0A-08E4-62C0-240C460D0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5343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8C244-0A6D-F547-70B8-901F6E38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D21A00-581A-0F88-3E36-925F72B9D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0DA455-1E36-4494-DE0B-E615CC858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34624A-7057-7ADC-C848-164867258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6433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5395B-0898-3347-B867-A195DE65D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492F06C-BE83-9E25-7579-264FB843B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DD2BF2-2DA0-AA40-7C3E-51A4863B0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107000"/>
              </a:lnSpc>
              <a:spcAft>
                <a:spcPts val="800"/>
              </a:spcAft>
              <a:buAutoNum type="arabicPeriod"/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C7CB5-7E2C-DDF3-44FF-8B40AFB1A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79138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693F-F348-DDC4-7DF2-3644CCCBF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49E0BE-90B9-CB1D-9747-15D1119EF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6310D4-2EA3-2E8A-099A-2AF65206A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ABD93B-6C48-960E-2BF1-F61BF7B10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23444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FB1E-7A19-6BAC-D3D9-F0AB9858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A600E0-C151-2B23-7CA4-15FFEBA3E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A64C48-9746-B82B-7F10-D7778973B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C4175C-EB2A-4328-7A44-530BB499E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51677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6E11-4DDB-1FDA-84DD-FB6683E2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141007-C1DB-B0B8-F760-21D2A0FA8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A0FB8F-C0D1-B74B-ECFD-FCB1B6E92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7C6AB8-C974-9ACF-70F0-FD826F259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406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8E44C-CD42-2657-57A0-383DADEAF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A2B5F00-77F8-C0AE-CBB0-FF5E5B094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829A8D-E8BF-F605-1816-C7FBC6763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A1BEAF-89C9-4D13-6181-0828AB07C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87380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68159-0912-72A4-F156-6FAAE54C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44CDBA-131D-A562-FDC7-8490B3324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298CFA-286A-40B4-5A00-712FED563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555DE6-DBCC-6689-CC01-7DC2AB825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51858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96A79-0ECB-1200-508E-7C8A276D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030728-B1D8-B667-12B6-47A8F78BA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F0A308-2B75-DE91-C9FF-0A5100EFC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A8782B-86A3-D999-C907-2EFF9CB90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17763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48686-D47E-E635-4411-F6A9354B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196F1B7-2E9A-0250-5479-BFBFCF12EA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C42514-F82A-B49D-D6A3-3F3EA2AE2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9D1C3C-0115-2494-B0C7-6C8432D57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04415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346F-07C1-2D48-9442-0188813CB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840305-12D7-5D4F-6BA3-89577D42E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F595F3-D974-88F2-008F-4703B1C31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6FE7DD-9B9F-5635-0178-8FA9C78C6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1585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0F25-8DD9-99D0-4752-380E4DD7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53EFE2-00B0-F1C1-536E-4D21F750D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DCF3F3-F5E4-B55E-C799-0CF5EB5F4E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79096F-455F-6CEB-B916-219888957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77852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37D61-5BBC-EC86-DB11-70DB7CAF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375A76A-4DE7-0F63-3F26-C86EBE626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EA79E2-1A61-CE89-23CB-7A8F673FF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EBBBFDE-011C-5734-DC1F-04895B6EB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875882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D66D-0111-CD74-2C9A-77F228AB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54390B-4DB1-A5C0-2665-39E4ADAC3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684426-D22D-F65E-4973-B1F15D397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53C8FA-8C01-6A6D-8FF6-A790BB752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08532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63B6C-34B2-A92D-C759-6BDBAC9A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D50C49-FAD8-0EAC-53CA-332E03ACA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65F147-3C9F-F1DF-030D-4A466C353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E18FBF-B167-BE10-5DB5-125753AB8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19215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531B-76B2-CD5E-48E2-8975C31ED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E474CA-5609-2C68-EB2A-0C6FB64EF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149B3D1-4A65-FDA5-39D5-9F862D23F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0ADA25-6C21-E2D4-F874-1F2FE5DDC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658542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13D1-8B78-F5E2-8C1F-92423E06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C32208-D976-2AAF-9A07-51D9022F4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DB5CE1-1C03-EEF4-AEC4-D33F8A56E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152B94-39FD-F37E-D93E-67DC7F865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19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89740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158F5-92BB-647E-40C9-A737F637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807D7DD-2848-80AD-4D77-A6AE41806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45B8AD-471F-4D2D-67D8-8E9EAD72C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769608-B207-EB61-D566-35E0BCFFD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20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23010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C61D4-BEC0-3ED4-CCDD-793B3A08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04E1EF-5168-E662-665E-661D38655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343EC4-DD4C-B462-93F7-D689CDC7D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CDB9F6-6F46-176F-7ECA-3B9DFCB49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612945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FC30-2F7B-503E-556E-C55B99BEA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399ADB6-905B-2EEF-63B2-53B8458F9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A778CF-41D4-6229-FB05-2485B9FDE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CL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C18D6C-C9D1-0E1C-8483-23AF2935E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D1966-643A-ED45-BFF9-B0FE18A32E2B}" type="slidenum">
              <a:rPr lang="es-ES_tradnl" smtClean="0"/>
              <a:t>22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6516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5467083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9764376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70107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603811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044398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9526278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373569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490892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0001325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081521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466542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391ABD7-D8E1-4B72-A8F7-C9452E4B04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01400" y="298847"/>
            <a:ext cx="800100" cy="67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7326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6581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5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404939"/>
            <a:ext cx="11715750" cy="4772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6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29/11/2025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598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92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‹Nº›</a:t>
            </a:fld>
            <a:endParaRPr lang="es-ES_tradn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45C0FF0-4734-47BE-AB72-CB2DFC30C2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1875" b="67253"/>
          <a:stretch/>
        </p:blipFill>
        <p:spPr>
          <a:xfrm>
            <a:off x="0" y="0"/>
            <a:ext cx="12192000" cy="132556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650" y="79376"/>
            <a:ext cx="10820400" cy="1189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6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2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20.jpeg"/><Relationship Id="rId4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>
            <a:off x="2016141" y="3591697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3710084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3710085" y="2056227"/>
            <a:ext cx="63912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Proyecto de Título:</a:t>
            </a:r>
          </a:p>
          <a:p>
            <a:r>
              <a:rPr lang="es-ES_tradnl" sz="3200" b="1" dirty="0">
                <a:solidFill>
                  <a:schemeClr val="bg1"/>
                </a:solidFill>
                <a:ea typeface="Gungsuh" charset="-127"/>
                <a:cs typeface="Gungsuh" charset="-127"/>
              </a:rPr>
              <a:t>EAPAB</a:t>
            </a:r>
            <a:endParaRPr lang="es-ES_tradnl" sz="66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  <a:p>
            <a:r>
              <a:rPr lang="es-CL" sz="1400" dirty="0">
                <a:solidFill>
                  <a:schemeClr val="bg1"/>
                </a:solidFill>
              </a:rPr>
              <a:t>Implementación de un prototipo web (Windows) de enseñanza de ejemplos prácticos sobre Phishing (T1566) para la educación y concienciación en ciberseguridad para estudiantes de la universidad Andrés Bello con referente en MITRE ATT&amp;CK.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2016141" y="3722684"/>
            <a:ext cx="28991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dirty="0">
                <a:solidFill>
                  <a:schemeClr val="bg1"/>
                </a:solidFill>
              </a:rPr>
              <a:t>Profesor:</a:t>
            </a:r>
          </a:p>
          <a:p>
            <a:r>
              <a:rPr lang="es-ES_tradnl" sz="1100" b="1" dirty="0">
                <a:solidFill>
                  <a:schemeClr val="bg1"/>
                </a:solidFill>
              </a:rPr>
              <a:t>Francisco Pérez Barahona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8225786" y="3722687"/>
            <a:ext cx="1696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dirty="0">
                <a:solidFill>
                  <a:schemeClr val="bg1"/>
                </a:solidFill>
              </a:rPr>
              <a:t>Desarrollado por: </a:t>
            </a:r>
          </a:p>
          <a:p>
            <a:r>
              <a:rPr lang="es-ES_tradnl" sz="1100" b="1" dirty="0">
                <a:solidFill>
                  <a:schemeClr val="bg1"/>
                </a:solidFill>
              </a:rPr>
              <a:t>Diego Martínez Casanova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016142" y="5889211"/>
            <a:ext cx="1243674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ES_tradnl" sz="1200" b="1" dirty="0">
                <a:solidFill>
                  <a:schemeClr val="bg1"/>
                </a:solidFill>
                <a:ea typeface="Gungsuh"/>
                <a:cs typeface="Gungsuh" charset="-127"/>
              </a:rPr>
              <a:t>Noviembre 2025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352" y="2158316"/>
            <a:ext cx="1279083" cy="118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3809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0228-3637-70D5-CA56-07CFE247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85A5B2C-3EDF-CEF8-5636-9E4227B9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Contextualización del Proyecto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49254A1-BF6A-BDDF-BB24-4587D0473648}"/>
              </a:ext>
            </a:extLst>
          </p:cNvPr>
          <p:cNvSpPr/>
          <p:nvPr/>
        </p:nvSpPr>
        <p:spPr>
          <a:xfrm>
            <a:off x="452214" y="4332631"/>
            <a:ext cx="5741977" cy="23395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solidFill>
                  <a:schemeClr val="tx1"/>
                </a:solidFill>
              </a:rPr>
              <a:t>El creciente auge de ciberataques en Chile, que posiciona al país como el segundo más afectado detrás de Brasil en la región, representa el 7,8% del total regional (</a:t>
            </a:r>
            <a:r>
              <a:rPr lang="es-CL" sz="16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RGA Ciberseguridad, 2025).</a:t>
            </a:r>
            <a:br>
              <a:rPr lang="es-CL" sz="16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CL" sz="1600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CL" sz="16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las estadísticas, el ataque de phishing fue el más común, con un incremento del 40% durante el 2024 (</a:t>
            </a:r>
            <a:r>
              <a:rPr lang="es-CL" sz="1600" kern="1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Preyproject</a:t>
            </a:r>
            <a:r>
              <a:rPr lang="es-CL" sz="16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2025).</a:t>
            </a:r>
          </a:p>
          <a:p>
            <a:pPr algn="ctr"/>
            <a:r>
              <a:rPr lang="es-CL" sz="1600" kern="1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Adicionalmente, solo el 34,5% de personas afectadas por phishing sabe cómo proceder tras ser victima de un ciberataque (Universidad San Sebastián, 2024).</a:t>
            </a:r>
            <a:endParaRPr lang="es-CL" sz="1600" dirty="0">
              <a:solidFill>
                <a:schemeClr val="tx1"/>
              </a:solidFill>
            </a:endParaRPr>
          </a:p>
        </p:txBody>
      </p:sp>
      <p:pic>
        <p:nvPicPr>
          <p:cNvPr id="1026" name="Picture 2" descr="10 consejos para que los empleados prevengan ataques de phishing">
            <a:extLst>
              <a:ext uri="{FF2B5EF4-FFF2-40B4-BE49-F238E27FC236}">
                <a16:creationId xmlns:a16="http://schemas.microsoft.com/office/drawing/2014/main" id="{74A47EE0-CDBC-9A9E-0AFA-67C71B067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005" y="2256462"/>
            <a:ext cx="4522392" cy="3495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probada la nueva Ley Marco sobre Ciberseguridad en Chile">
            <a:extLst>
              <a:ext uri="{FF2B5EF4-FFF2-40B4-BE49-F238E27FC236}">
                <a16:creationId xmlns:a16="http://schemas.microsoft.com/office/drawing/2014/main" id="{C477E066-37E8-0F01-0C2F-435212196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794" y="1474725"/>
            <a:ext cx="3977391" cy="265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1973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F1772-FF1A-673F-F1A5-2B70E7D5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69F8AC0-0FC3-32E8-F058-2941F05A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Identificación del Problema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2407DD-F21F-216D-776E-74F4C8F27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6" y="1547111"/>
            <a:ext cx="10506806" cy="520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5221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A93A1-171E-D478-56D9-949F9184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D45CFB1-44B0-5E19-3D23-C05CB4A7A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Objetivo General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2F9544-30FB-B930-3F54-2B48B2185C2B}"/>
              </a:ext>
            </a:extLst>
          </p:cNvPr>
          <p:cNvSpPr/>
          <p:nvPr/>
        </p:nvSpPr>
        <p:spPr>
          <a:xfrm>
            <a:off x="247650" y="1442450"/>
            <a:ext cx="4529042" cy="21211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El desarrollo de un prototipo web para su implementación en sistema Windows con enseñanza </a:t>
            </a:r>
            <a:r>
              <a:rPr lang="es-CL" dirty="0" err="1">
                <a:solidFill>
                  <a:schemeClr val="tx1"/>
                </a:solidFill>
              </a:rPr>
              <a:t>anti-phishing</a:t>
            </a:r>
            <a:r>
              <a:rPr lang="es-CL" dirty="0">
                <a:solidFill>
                  <a:schemeClr val="tx1"/>
                </a:solidFill>
              </a:rPr>
              <a:t> y </a:t>
            </a:r>
            <a:r>
              <a:rPr lang="es-CL" dirty="0" err="1">
                <a:solidFill>
                  <a:schemeClr val="tx1"/>
                </a:solidFill>
              </a:rPr>
              <a:t>sub-técnicas</a:t>
            </a:r>
            <a:r>
              <a:rPr lang="es-CL" dirty="0">
                <a:solidFill>
                  <a:schemeClr val="tx1"/>
                </a:solidFill>
              </a:rPr>
              <a:t> con referente en MITRE ATT&amp;CK para estudiantes de la Universidad Andrés Bello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B2EFD4-E73B-F848-2374-7C9AFB17386F}"/>
              </a:ext>
            </a:extLst>
          </p:cNvPr>
          <p:cNvSpPr/>
          <p:nvPr/>
        </p:nvSpPr>
        <p:spPr>
          <a:xfrm>
            <a:off x="7077906" y="1442450"/>
            <a:ext cx="4404258" cy="21211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Visualizar técnicas de Phishing con el uso de ejemplos híbridos en la utilización de marco de conocimiento, módulos interactivos, evaluaciones calificadas y encuestas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9CD3D83-E848-24F7-84F1-FD7B5E7145CF}"/>
              </a:ext>
            </a:extLst>
          </p:cNvPr>
          <p:cNvSpPr/>
          <p:nvPr/>
        </p:nvSpPr>
        <p:spPr>
          <a:xfrm>
            <a:off x="3334390" y="4485062"/>
            <a:ext cx="4605064" cy="19280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Educar a los estudiantes universitarios para prevenir ciberataques de Phishing, concientizarlos sobre las técnicas de los adversarios y proteger la información bajo su control, mejorando así la seguridad tanto a nivel personal como en su entorno social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16D66C5-EF6E-1F73-E710-7C682F0322FE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4776692" y="2503048"/>
            <a:ext cx="23012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FE37D52-B63C-25FE-30C3-D57C9CD61E6D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636922" y="3571555"/>
            <a:ext cx="1440984" cy="913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363D02C-7681-74D0-7853-48526D09900D}"/>
              </a:ext>
            </a:extLst>
          </p:cNvPr>
          <p:cNvSpPr txBox="1"/>
          <p:nvPr/>
        </p:nvSpPr>
        <p:spPr>
          <a:xfrm>
            <a:off x="4928964" y="2133717"/>
            <a:ext cx="174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 permita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2FFBE82-5B8B-3866-0D07-5D70087DE08D}"/>
              </a:ext>
            </a:extLst>
          </p:cNvPr>
          <p:cNvSpPr txBox="1"/>
          <p:nvPr/>
        </p:nvSpPr>
        <p:spPr>
          <a:xfrm rot="19779360">
            <a:off x="5708618" y="3573052"/>
            <a:ext cx="62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Para</a:t>
            </a:r>
          </a:p>
        </p:txBody>
      </p:sp>
    </p:spTree>
    <p:extLst>
      <p:ext uri="{BB962C8B-B14F-4D97-AF65-F5344CB8AC3E}">
        <p14:creationId xmlns:p14="http://schemas.microsoft.com/office/powerpoint/2010/main" val="5850830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BD014-B3C6-8C0C-65A4-3C3697280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EA51B4B-558F-D8BF-B5DE-5C36CDC71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Objetivos Específicos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3AAFA03-4573-547F-87FB-34E5639CB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76840"/>
              </p:ext>
            </p:extLst>
          </p:nvPr>
        </p:nvGraphicFramePr>
        <p:xfrm>
          <a:off x="184107" y="1478996"/>
          <a:ext cx="11764462" cy="5136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7873">
                  <a:extLst>
                    <a:ext uri="{9D8B030D-6E8A-4147-A177-3AD203B41FA5}">
                      <a16:colId xmlns:a16="http://schemas.microsoft.com/office/drawing/2014/main" val="1841681784"/>
                    </a:ext>
                  </a:extLst>
                </a:gridCol>
                <a:gridCol w="2765773">
                  <a:extLst>
                    <a:ext uri="{9D8B030D-6E8A-4147-A177-3AD203B41FA5}">
                      <a16:colId xmlns:a16="http://schemas.microsoft.com/office/drawing/2014/main" val="1595505449"/>
                    </a:ext>
                  </a:extLst>
                </a:gridCol>
                <a:gridCol w="2051171">
                  <a:extLst>
                    <a:ext uri="{9D8B030D-6E8A-4147-A177-3AD203B41FA5}">
                      <a16:colId xmlns:a16="http://schemas.microsoft.com/office/drawing/2014/main" val="2711691661"/>
                    </a:ext>
                  </a:extLst>
                </a:gridCol>
                <a:gridCol w="2130572">
                  <a:extLst>
                    <a:ext uri="{9D8B030D-6E8A-4147-A177-3AD203B41FA5}">
                      <a16:colId xmlns:a16="http://schemas.microsoft.com/office/drawing/2014/main" val="606605545"/>
                    </a:ext>
                  </a:extLst>
                </a:gridCol>
                <a:gridCol w="2329073">
                  <a:extLst>
                    <a:ext uri="{9D8B030D-6E8A-4147-A177-3AD203B41FA5}">
                      <a16:colId xmlns:a16="http://schemas.microsoft.com/office/drawing/2014/main" val="2091480035"/>
                    </a:ext>
                  </a:extLst>
                </a:gridCol>
              </a:tblGrid>
              <a:tr h="5860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Objetivo específico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Resultado esperado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Métrica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Criterio de éxito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Base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12066"/>
                  </a:ext>
                </a:extLst>
              </a:tr>
              <a:tr h="15340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Desarrollar un prototipo de plataforma web que integre una base de conocimiento funcional sobre la técnica T1566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Tanto el usuario como el administrador pueden acceder a la información clave de la técnica T1566 y los módulos interactivos; administrador puede gestionar el contenido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Interacción de las funciones según el rol del usuario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Cumplimiento al 100% de las funcionalidades del rol asignado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No hay plataforma web específica para el estudio del phishing en Chile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064080"/>
                  </a:ext>
                </a:extLst>
              </a:tr>
              <a:tr h="14306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Implementar tres módulos interactivos principales que demuestren de manera práctica los conceptos de phishing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El usuario utiliza los módulos interactivos del prototipo para identificar y comprender de manera práctica los conceptos de la técnica T1566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Número de módulos completados con éxito por los usuarios que interactúen con el prototipo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Módulos completamente desarrollados y accesibles en línea sin errores críticos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Base local inexistente y en constante necesidad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3932"/>
                  </a:ext>
                </a:extLst>
              </a:tr>
              <a:tr h="158579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Aumento de la detección del usuario ante amenazas de phishing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El usuario es capaz de detectar y responder correctamente ante amenazas fraudulentas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Evaluación de conocimiento de 3 preguntas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Porcentaje de calificación igual o superior a 66%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No existe una plataforma concreta para estudiantes universitarios en español que eduque sobre phishing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270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77289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FBFDB-5AA8-FC75-7C15-DB37DBF1D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AF35196-C901-BCC0-B33F-2A5E4791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Objetivos Específicos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A3F91CA-83EC-8467-6F09-6ABDA4966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084873"/>
              </p:ext>
            </p:extLst>
          </p:nvPr>
        </p:nvGraphicFramePr>
        <p:xfrm>
          <a:off x="450850" y="1755157"/>
          <a:ext cx="11290300" cy="43694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155696471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300232849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507511819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108474699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1679836216"/>
                    </a:ext>
                  </a:extLst>
                </a:gridCol>
              </a:tblGrid>
              <a:tr h="80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Objetivo específico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Resultado esperado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Métrica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Criterio de éxito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400" u="none" strike="noStrike" dirty="0">
                          <a:effectLst/>
                        </a:rPr>
                        <a:t>Base</a:t>
                      </a:r>
                      <a:endParaRPr lang="es-C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850213"/>
                  </a:ext>
                </a:extLst>
              </a:tr>
              <a:tr h="18615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Concientizar sobre la relevancia de la ciberseguridad 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Elevar el nivel de conciencia de los usuarios sobre los riesgos del phishing y la importancia de proteger su información y la de su circulo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Encuesta inicial al registrarse y al final tras evaluaciones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Porcentaje de usuarios que afirmen tener la intención de cambiar sus hábitos de seguridad supera el 50%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Concientización de ciberseguridad limitada a ramos de la universidad relacionados a ciberseguridad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053089"/>
                  </a:ext>
                </a:extLst>
              </a:tr>
              <a:tr h="17064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400" u="none" strike="noStrike">
                          <a:effectLst/>
                        </a:rPr>
                        <a:t>Valoración de la herramienta</a:t>
                      </a:r>
                      <a:endParaRPr lang="es-C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Los usuarios califican al prototipo como útil o muy útil para comprender los riesgos del phishing.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>
                          <a:effectLst/>
                        </a:rPr>
                        <a:t>Segmento de valoración de la herramienta en la encuesta final a través de puntaje (1 - 5)</a:t>
                      </a:r>
                      <a:endParaRPr lang="es-MX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Satisfacción promedio de los usuarios mayor o igual a 4 en pruebas piloto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400" u="none" strike="noStrike" dirty="0">
                          <a:effectLst/>
                        </a:rPr>
                        <a:t>No existe una validación con los usuarios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27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937982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A3DC3-3791-DE83-9593-C27359BEA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4941787-3D9F-83CC-6D7A-E1B83D54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Plan de Gestión de Alcance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BFBD70-E921-DA7E-D3E0-A1CD762F7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880" y="1374968"/>
            <a:ext cx="8414239" cy="548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34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1123-A09F-F518-5B23-AB12B09B5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245042D-0925-A49C-D821-AE8228AE3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Plan de Gestión de Riesgo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BD49387-7217-7685-3798-9A763B66B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110448"/>
              </p:ext>
            </p:extLst>
          </p:nvPr>
        </p:nvGraphicFramePr>
        <p:xfrm>
          <a:off x="141149" y="1343983"/>
          <a:ext cx="11342645" cy="52571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7185">
                  <a:extLst>
                    <a:ext uri="{9D8B030D-6E8A-4147-A177-3AD203B41FA5}">
                      <a16:colId xmlns:a16="http://schemas.microsoft.com/office/drawing/2014/main" val="2676312190"/>
                    </a:ext>
                  </a:extLst>
                </a:gridCol>
                <a:gridCol w="2884247">
                  <a:extLst>
                    <a:ext uri="{9D8B030D-6E8A-4147-A177-3AD203B41FA5}">
                      <a16:colId xmlns:a16="http://schemas.microsoft.com/office/drawing/2014/main" val="3929398731"/>
                    </a:ext>
                  </a:extLst>
                </a:gridCol>
                <a:gridCol w="1302971">
                  <a:extLst>
                    <a:ext uri="{9D8B030D-6E8A-4147-A177-3AD203B41FA5}">
                      <a16:colId xmlns:a16="http://schemas.microsoft.com/office/drawing/2014/main" val="3995024556"/>
                    </a:ext>
                  </a:extLst>
                </a:gridCol>
                <a:gridCol w="1391522">
                  <a:extLst>
                    <a:ext uri="{9D8B030D-6E8A-4147-A177-3AD203B41FA5}">
                      <a16:colId xmlns:a16="http://schemas.microsoft.com/office/drawing/2014/main" val="2556383858"/>
                    </a:ext>
                  </a:extLst>
                </a:gridCol>
                <a:gridCol w="1546488">
                  <a:extLst>
                    <a:ext uri="{9D8B030D-6E8A-4147-A177-3AD203B41FA5}">
                      <a16:colId xmlns:a16="http://schemas.microsoft.com/office/drawing/2014/main" val="901722148"/>
                    </a:ext>
                  </a:extLst>
                </a:gridCol>
                <a:gridCol w="2457303">
                  <a:extLst>
                    <a:ext uri="{9D8B030D-6E8A-4147-A177-3AD203B41FA5}">
                      <a16:colId xmlns:a16="http://schemas.microsoft.com/office/drawing/2014/main" val="155955244"/>
                    </a:ext>
                  </a:extLst>
                </a:gridCol>
                <a:gridCol w="992929">
                  <a:extLst>
                    <a:ext uri="{9D8B030D-6E8A-4147-A177-3AD203B41FA5}">
                      <a16:colId xmlns:a16="http://schemas.microsoft.com/office/drawing/2014/main" val="998541549"/>
                    </a:ext>
                  </a:extLst>
                </a:gridCol>
              </a:tblGrid>
              <a:tr h="1386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ID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Descripción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Probabilidad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Impacto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Ponderación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Acciones para mitigar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Tipo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331610"/>
                  </a:ext>
                </a:extLst>
              </a:tr>
              <a:tr h="60096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R01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Baja adherencia del usuario a las pruebas: </a:t>
                      </a:r>
                      <a:r>
                        <a:rPr lang="es-MX" sz="1000" u="none" strike="noStrike" dirty="0">
                          <a:effectLst/>
                        </a:rPr>
                        <a:t>Riesgo de que la muestra de usuarios no complete las encuestas iniciales, módulos interactivos o el examen final de manera seria, invalidando los resultados.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0.7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0.8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Alta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Establecer incentivos o la obligatoriedad de uso dentro de un curso piloto. Garantizar la total confidencialidad de los datos individuales.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T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39067"/>
                  </a:ext>
                </a:extLst>
              </a:tr>
              <a:tr h="4819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R02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Desfase del contenido: </a:t>
                      </a:r>
                      <a:r>
                        <a:rPr lang="es-MX" sz="1000" u="none" strike="noStrike" dirty="0">
                          <a:effectLst/>
                        </a:rPr>
                        <a:t>La técnica de Phishing y sus </a:t>
                      </a:r>
                      <a:r>
                        <a:rPr lang="es-MX" sz="1000" u="none" strike="noStrike" dirty="0" err="1">
                          <a:effectLst/>
                        </a:rPr>
                        <a:t>sub-técnicas</a:t>
                      </a:r>
                      <a:r>
                        <a:rPr lang="es-MX" sz="1000" u="none" strike="noStrike" dirty="0">
                          <a:effectLst/>
                        </a:rPr>
                        <a:t> evolucionan rápidamente, lo que reduce la efectividad de los ejemplos propuestos.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0.6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0.7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Media-Alta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Realizar una validación final de los 3 ejemplos híbridos con expertos en ciberseguridad antes de la Fase 3.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T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709440"/>
                  </a:ext>
                </a:extLst>
              </a:tr>
              <a:tr h="7444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R03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Problemas de compatibilidad del prototipo en navegadores Windows: </a:t>
                      </a:r>
                      <a:r>
                        <a:rPr lang="es-MX" sz="1000" u="none" strike="noStrike" dirty="0">
                          <a:effectLst/>
                        </a:rPr>
                        <a:t>El prototipo no se renderiza correctamente o las funcionalidades interactivas fallan en alguna versión de navegadores estándar dentro del entorno Windows.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0.6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Media-Media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Realizar pruebas exhaustivas de compatibilidad multiplataforma de navegadores y usar </a:t>
                      </a:r>
                      <a:r>
                        <a:rPr lang="es-MX" sz="1000" u="none" strike="noStrike" dirty="0" err="1">
                          <a:effectLst/>
                        </a:rPr>
                        <a:t>frameworks</a:t>
                      </a:r>
                      <a:r>
                        <a:rPr lang="es-MX" sz="1000" u="none" strike="noStrike" dirty="0">
                          <a:effectLst/>
                        </a:rPr>
                        <a:t> de desarrollo web estándar y bien soportados.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T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604229"/>
                  </a:ext>
                </a:extLst>
              </a:tr>
              <a:tr h="7444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R04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Complejidad o poca claridad de los módulos interactivos: </a:t>
                      </a:r>
                      <a:r>
                        <a:rPr lang="es-MX" sz="1000" u="none" strike="noStrike" dirty="0">
                          <a:effectLst/>
                        </a:rPr>
                        <a:t>Los módulos diseñados para demostrar el Phishing son difíciles de entender, resultando en baja calificación en el OE3 o baja valoración de la herramienta.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0.4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Media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Incluir una fase de pruebas de usabilidad con un pequeño grupo piloto antes del desarrollo completo de la Fase 3, para simplificar la interacción y el lenguaje.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156123"/>
                  </a:ext>
                </a:extLst>
              </a:tr>
              <a:tr h="59671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Fallas en la persistencia del mockup de datos: </a:t>
                      </a:r>
                      <a:r>
                        <a:rPr lang="es-MX" sz="1000" u="none" strike="noStrike" dirty="0">
                          <a:effectLst/>
                        </a:rPr>
                        <a:t>El sistema básico de persistencia para guardar los resultados de encuestas y evaluaciones no es robusto y se pierden datos críticos.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0.8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Alta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Implementar una solución de almacenamiento simple y redundante y realizar pruebas de escritura y lectura de datos.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T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447945"/>
                  </a:ext>
                </a:extLst>
              </a:tr>
              <a:tr h="60096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R06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Falta de recursos para la validación: </a:t>
                      </a:r>
                      <a:r>
                        <a:rPr lang="es-MX" sz="1000" u="none" strike="noStrike" dirty="0">
                          <a:effectLst/>
                        </a:rPr>
                        <a:t>No se dispone del tiempo o acceso a expertos necesarios para revisar y validar la correcta interpretación de la base de conocimiento T1566.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0.4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0.6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Media-Media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 dirty="0">
                          <a:effectLst/>
                        </a:rPr>
                        <a:t>Realizar reuniones de revisión de contenido en la fase 1 y 2 para obtener aprobación formal sobre el material.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P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974495"/>
                  </a:ext>
                </a:extLst>
              </a:tr>
              <a:tr h="7199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R07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Aislamiento del entorno de pruebas: </a:t>
                      </a:r>
                      <a:r>
                        <a:rPr lang="es-MX" sz="1000" u="none" strike="noStrike" dirty="0">
                          <a:effectLst/>
                        </a:rPr>
                        <a:t>El ambiente de ejecución no está completamente aislado, y existe riesgo de que las simulaciones sean detectadas o bloqueadas por software de seguridad.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0.3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0.4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Baja-Media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Documentar claramente que el prototipo debe ejecutarse en un entorno controlado y asegurar que el código no contenga peticiones externas que puedan ser marcadas como maliciosas.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T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081814"/>
                  </a:ext>
                </a:extLst>
              </a:tr>
              <a:tr h="4819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R08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1" u="none" strike="noStrike" dirty="0">
                          <a:effectLst/>
                        </a:rPr>
                        <a:t>Desviación del alcance: </a:t>
                      </a:r>
                      <a:r>
                        <a:rPr lang="es-MX" sz="1000" u="none" strike="noStrike" dirty="0">
                          <a:effectLst/>
                        </a:rPr>
                        <a:t>Solicitudes no planificadas  que no se alinean con las limitaciones.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0.7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Media-Alta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u="none" strike="noStrike">
                          <a:effectLst/>
                        </a:rPr>
                        <a:t>Aplicar rigurosamente el proceso de Gestión de Cambios y documentar formalmente cada rechazo de cambio no alineado a los objetivos.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G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99" marR="5899" marT="589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051146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E5BEBAD-C5F9-BB5A-48E9-392FBD2114DF}"/>
              </a:ext>
            </a:extLst>
          </p:cNvPr>
          <p:cNvSpPr txBox="1"/>
          <p:nvPr/>
        </p:nvSpPr>
        <p:spPr>
          <a:xfrm>
            <a:off x="3559410" y="6601158"/>
            <a:ext cx="46886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T: Técnico         P: Producto          G: Gestión          E: Externo</a:t>
            </a:r>
          </a:p>
        </p:txBody>
      </p:sp>
    </p:spTree>
    <p:extLst>
      <p:ext uri="{BB962C8B-B14F-4D97-AF65-F5344CB8AC3E}">
        <p14:creationId xmlns:p14="http://schemas.microsoft.com/office/powerpoint/2010/main" val="285353413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15F7-FFDD-4095-348C-4D32FD70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778A013-371A-4413-44FC-BB8656FAA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Plan de Gestión de Riesgo - Matriz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3F13190-A3B4-E721-1D41-33AADCD8F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220057"/>
              </p:ext>
            </p:extLst>
          </p:nvPr>
        </p:nvGraphicFramePr>
        <p:xfrm>
          <a:off x="1147518" y="1654015"/>
          <a:ext cx="9420245" cy="4949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0156">
                  <a:extLst>
                    <a:ext uri="{9D8B030D-6E8A-4147-A177-3AD203B41FA5}">
                      <a16:colId xmlns:a16="http://schemas.microsoft.com/office/drawing/2014/main" val="22940931"/>
                    </a:ext>
                  </a:extLst>
                </a:gridCol>
                <a:gridCol w="1278043">
                  <a:extLst>
                    <a:ext uri="{9D8B030D-6E8A-4147-A177-3AD203B41FA5}">
                      <a16:colId xmlns:a16="http://schemas.microsoft.com/office/drawing/2014/main" val="2733010833"/>
                    </a:ext>
                  </a:extLst>
                </a:gridCol>
                <a:gridCol w="1278043">
                  <a:extLst>
                    <a:ext uri="{9D8B030D-6E8A-4147-A177-3AD203B41FA5}">
                      <a16:colId xmlns:a16="http://schemas.microsoft.com/office/drawing/2014/main" val="2334154427"/>
                    </a:ext>
                  </a:extLst>
                </a:gridCol>
                <a:gridCol w="1389874">
                  <a:extLst>
                    <a:ext uri="{9D8B030D-6E8A-4147-A177-3AD203B41FA5}">
                      <a16:colId xmlns:a16="http://schemas.microsoft.com/office/drawing/2014/main" val="2720854138"/>
                    </a:ext>
                  </a:extLst>
                </a:gridCol>
                <a:gridCol w="1278043">
                  <a:extLst>
                    <a:ext uri="{9D8B030D-6E8A-4147-A177-3AD203B41FA5}">
                      <a16:colId xmlns:a16="http://schemas.microsoft.com/office/drawing/2014/main" val="490869405"/>
                    </a:ext>
                  </a:extLst>
                </a:gridCol>
                <a:gridCol w="1278043">
                  <a:extLst>
                    <a:ext uri="{9D8B030D-6E8A-4147-A177-3AD203B41FA5}">
                      <a16:colId xmlns:a16="http://schemas.microsoft.com/office/drawing/2014/main" val="2810208539"/>
                    </a:ext>
                  </a:extLst>
                </a:gridCol>
                <a:gridCol w="1278043">
                  <a:extLst>
                    <a:ext uri="{9D8B030D-6E8A-4147-A177-3AD203B41FA5}">
                      <a16:colId xmlns:a16="http://schemas.microsoft.com/office/drawing/2014/main" val="1025830493"/>
                    </a:ext>
                  </a:extLst>
                </a:gridCol>
              </a:tblGrid>
              <a:tr h="8838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>
                          <a:effectLst/>
                        </a:rPr>
                        <a:t>Importancia de Riesgo</a:t>
                      </a:r>
                      <a:endParaRPr lang="es-C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Impacto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68972"/>
                  </a:ext>
                </a:extLst>
              </a:tr>
              <a:tr h="4009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u="none" strike="noStrike" dirty="0">
                          <a:effectLst/>
                        </a:rPr>
                        <a:t> </a:t>
                      </a:r>
                      <a:endParaRPr lang="es-C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Muy bajo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Bajo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Medio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Alto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Muy alto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926886"/>
                  </a:ext>
                </a:extLst>
              </a:tr>
              <a:tr h="732911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Probabilidad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Medio alta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R01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195023"/>
                  </a:ext>
                </a:extLst>
              </a:tr>
              <a:tr h="732911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Alto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29627"/>
                  </a:ext>
                </a:extLst>
              </a:tr>
              <a:tr h="732911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Media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>
                          <a:effectLst/>
                        </a:rPr>
                        <a:t>R02, R05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R08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>
                          <a:effectLst/>
                        </a:rPr>
                        <a:t> </a:t>
                      </a:r>
                      <a:endParaRPr lang="es-CL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090028"/>
                  </a:ext>
                </a:extLst>
              </a:tr>
              <a:tr h="732911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Baja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R03, R04, R06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496970"/>
                  </a:ext>
                </a:extLst>
              </a:tr>
              <a:tr h="732911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Media baja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R07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600" u="none" strike="noStrike" dirty="0">
                          <a:effectLst/>
                        </a:rPr>
                        <a:t> </a:t>
                      </a:r>
                      <a:endParaRPr lang="es-CL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1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5958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F384-579B-A421-A056-F457A802D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D177BD3-6F1C-1743-FD9D-DD7F6C8F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Plan de Gestión de Calidad – ISO 9001:2015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6F3B3B-382C-946F-438C-844934E8911C}"/>
              </a:ext>
            </a:extLst>
          </p:cNvPr>
          <p:cNvSpPr/>
          <p:nvPr/>
        </p:nvSpPr>
        <p:spPr>
          <a:xfrm>
            <a:off x="4917715" y="1735007"/>
            <a:ext cx="2221562" cy="98190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Calidad externa e interna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4FE8F03-2170-EA09-913F-D2740675D001}"/>
              </a:ext>
            </a:extLst>
          </p:cNvPr>
          <p:cNvSpPr/>
          <p:nvPr/>
        </p:nvSpPr>
        <p:spPr>
          <a:xfrm>
            <a:off x="175417" y="3428991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Requisitos de Calidad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1DEC1F-A5A5-C2D5-9600-8ECF926CF7B4}"/>
              </a:ext>
            </a:extLst>
          </p:cNvPr>
          <p:cNvSpPr/>
          <p:nvPr/>
        </p:nvSpPr>
        <p:spPr>
          <a:xfrm>
            <a:off x="1664643" y="3424398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Aseguramiento de Calidad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07599B1-E75E-A489-E8A3-5F573CD97309}"/>
              </a:ext>
            </a:extLst>
          </p:cNvPr>
          <p:cNvSpPr/>
          <p:nvPr/>
        </p:nvSpPr>
        <p:spPr>
          <a:xfrm>
            <a:off x="3201937" y="3428994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Control de Calidad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8D06B49-90E2-3E70-05C0-D3C003507A32}"/>
              </a:ext>
            </a:extLst>
          </p:cNvPr>
          <p:cNvSpPr/>
          <p:nvPr/>
        </p:nvSpPr>
        <p:spPr>
          <a:xfrm>
            <a:off x="4691671" y="3428993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Métricas de Calidad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81DDF9-E54F-815B-CC68-8CD98A9537B2}"/>
              </a:ext>
            </a:extLst>
          </p:cNvPr>
          <p:cNvSpPr/>
          <p:nvPr/>
        </p:nvSpPr>
        <p:spPr>
          <a:xfrm>
            <a:off x="6197771" y="3424394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Gestión de Riesgos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81DF057-63D3-3A64-B237-896E56441F33}"/>
              </a:ext>
            </a:extLst>
          </p:cNvPr>
          <p:cNvSpPr/>
          <p:nvPr/>
        </p:nvSpPr>
        <p:spPr>
          <a:xfrm>
            <a:off x="7731232" y="3424398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Control Documental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FD77B8B-6882-0C68-8D7A-2617092229B8}"/>
              </a:ext>
            </a:extLst>
          </p:cNvPr>
          <p:cNvSpPr/>
          <p:nvPr/>
        </p:nvSpPr>
        <p:spPr>
          <a:xfrm>
            <a:off x="175417" y="4271291"/>
            <a:ext cx="1313299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Funcionales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No funcionales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Requisitos del usuario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92A6EC-22B1-EE2F-E6BD-34FDCFA5FF2B}"/>
              </a:ext>
            </a:extLst>
          </p:cNvPr>
          <p:cNvSpPr/>
          <p:nvPr/>
        </p:nvSpPr>
        <p:spPr>
          <a:xfrm>
            <a:off x="1664643" y="4271292"/>
            <a:ext cx="1313299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Revisión de requisitos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Revisión del diseño del prototipo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Validación basada en ISO 9001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181E739-6095-D04A-D4EB-CADC26C5F4D3}"/>
              </a:ext>
            </a:extLst>
          </p:cNvPr>
          <p:cNvSpPr/>
          <p:nvPr/>
        </p:nvSpPr>
        <p:spPr>
          <a:xfrm>
            <a:off x="6197770" y="4266694"/>
            <a:ext cx="1313299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R01-R08 con probabilidad/impacto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Acciones de mitigación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Seguimiento en cada fase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388693-297E-B7ED-347C-3C8A81B8AE83}"/>
              </a:ext>
            </a:extLst>
          </p:cNvPr>
          <p:cNvSpPr/>
          <p:nvPr/>
        </p:nvSpPr>
        <p:spPr>
          <a:xfrm>
            <a:off x="4691670" y="4266693"/>
            <a:ext cx="1313299" cy="248494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Acceso correcto a contenido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Completitud de módulos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≥66% detección de phishing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Cambio de hábitos ≥50%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Satisfacción ≥4.0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2BE0314-59C0-9E0E-BDBE-DE7230A98A66}"/>
              </a:ext>
            </a:extLst>
          </p:cNvPr>
          <p:cNvSpPr/>
          <p:nvPr/>
        </p:nvSpPr>
        <p:spPr>
          <a:xfrm>
            <a:off x="3201936" y="4271292"/>
            <a:ext cx="1313299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Pruebas funcionales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Pruebas de usabilidad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Pruebas de compatibilidad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Prueba de persistencia de datos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C90B9D-D4E2-0BAA-647D-BAB35F3BD220}"/>
              </a:ext>
            </a:extLst>
          </p:cNvPr>
          <p:cNvSpPr/>
          <p:nvPr/>
        </p:nvSpPr>
        <p:spPr>
          <a:xfrm>
            <a:off x="7731230" y="4266694"/>
            <a:ext cx="1313299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Registros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Registro de encuestas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Versionado del prototipo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Aprobaciones y actas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9073282-C611-1C98-3E7B-5E01F344F3E6}"/>
              </a:ext>
            </a:extLst>
          </p:cNvPr>
          <p:cNvCxnSpPr>
            <a:endCxn id="2" idx="2"/>
          </p:cNvCxnSpPr>
          <p:nvPr/>
        </p:nvCxnSpPr>
        <p:spPr>
          <a:xfrm flipV="1">
            <a:off x="6028496" y="2716913"/>
            <a:ext cx="0" cy="355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EA5E890-108C-32B3-70B8-A7215D1018C4}"/>
              </a:ext>
            </a:extLst>
          </p:cNvPr>
          <p:cNvCxnSpPr>
            <a:cxnSpLocks/>
          </p:cNvCxnSpPr>
          <p:nvPr/>
        </p:nvCxnSpPr>
        <p:spPr>
          <a:xfrm flipH="1" flipV="1">
            <a:off x="832067" y="3063859"/>
            <a:ext cx="10571848" cy="89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AF84310-5727-8667-471B-0C14FBDBAFC7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832066" y="3068456"/>
            <a:ext cx="1" cy="3605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9B19A5D-9642-E373-6BA8-FB3E9757028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2321292" y="3063860"/>
            <a:ext cx="1" cy="360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39087C74-0410-4648-6712-CB6B7AE253D7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3858585" y="3068457"/>
            <a:ext cx="2" cy="360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3AA8EF1-B55B-B6C9-D9C1-5AA72F9CE452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5348320" y="3068457"/>
            <a:ext cx="1" cy="360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E6178D64-042C-5EE7-3F3B-19FF3110B542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6854419" y="3063859"/>
            <a:ext cx="2" cy="3605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6EBDDC2-D6AC-C7E9-D8A6-87DDE5383A0B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8387879" y="3063859"/>
            <a:ext cx="3" cy="360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5AD6BE05-997E-E369-D3DF-5FAC3F739D58}"/>
              </a:ext>
            </a:extLst>
          </p:cNvPr>
          <p:cNvCxnSpPr>
            <a:stCxn id="11" idx="0"/>
            <a:endCxn id="3" idx="2"/>
          </p:cNvCxnSpPr>
          <p:nvPr/>
        </p:nvCxnSpPr>
        <p:spPr>
          <a:xfrm flipV="1">
            <a:off x="832067" y="4025806"/>
            <a:ext cx="0" cy="245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1FA7BA13-DA87-C6CD-BA7D-842EA508C624}"/>
              </a:ext>
            </a:extLst>
          </p:cNvPr>
          <p:cNvCxnSpPr>
            <a:cxnSpLocks/>
            <a:stCxn id="12" idx="0"/>
            <a:endCxn id="5" idx="2"/>
          </p:cNvCxnSpPr>
          <p:nvPr/>
        </p:nvCxnSpPr>
        <p:spPr>
          <a:xfrm flipV="1">
            <a:off x="2321293" y="4021213"/>
            <a:ext cx="0" cy="250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E7E4E40D-9DC0-CC9E-DB9C-28629E4EE0AA}"/>
              </a:ext>
            </a:extLst>
          </p:cNvPr>
          <p:cNvCxnSpPr>
            <a:stCxn id="15" idx="0"/>
            <a:endCxn id="6" idx="2"/>
          </p:cNvCxnSpPr>
          <p:nvPr/>
        </p:nvCxnSpPr>
        <p:spPr>
          <a:xfrm flipV="1">
            <a:off x="3858586" y="4025809"/>
            <a:ext cx="1" cy="2454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2322C53E-3613-7136-E376-3939A4A18FC0}"/>
              </a:ext>
            </a:extLst>
          </p:cNvPr>
          <p:cNvCxnSpPr>
            <a:cxnSpLocks/>
            <a:stCxn id="14" idx="0"/>
            <a:endCxn id="7" idx="2"/>
          </p:cNvCxnSpPr>
          <p:nvPr/>
        </p:nvCxnSpPr>
        <p:spPr>
          <a:xfrm flipV="1">
            <a:off x="5348320" y="4025808"/>
            <a:ext cx="1" cy="240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855C8EA-A3C3-5196-2AF8-0BDBF3E3D67D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flipV="1">
            <a:off x="6854420" y="4021209"/>
            <a:ext cx="1" cy="245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9363F22-87A5-AFDA-8A75-673E21028B8D}"/>
              </a:ext>
            </a:extLst>
          </p:cNvPr>
          <p:cNvCxnSpPr>
            <a:cxnSpLocks/>
            <a:stCxn id="16" idx="0"/>
            <a:endCxn id="9" idx="2"/>
          </p:cNvCxnSpPr>
          <p:nvPr/>
        </p:nvCxnSpPr>
        <p:spPr>
          <a:xfrm flipV="1">
            <a:off x="8387880" y="4021213"/>
            <a:ext cx="2" cy="245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87376FA-1617-6977-2297-9FD9189F4BBF}"/>
              </a:ext>
            </a:extLst>
          </p:cNvPr>
          <p:cNvSpPr/>
          <p:nvPr/>
        </p:nvSpPr>
        <p:spPr>
          <a:xfrm>
            <a:off x="9274913" y="3428996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Procesos del Proyecto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10B4EE36-1360-3E08-2E63-531B43279042}"/>
              </a:ext>
            </a:extLst>
          </p:cNvPr>
          <p:cNvSpPr/>
          <p:nvPr/>
        </p:nvSpPr>
        <p:spPr>
          <a:xfrm>
            <a:off x="9241163" y="4271292"/>
            <a:ext cx="1384627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Gestión de requisitos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Diseño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Desarrollo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Validación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Retroalimentación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Implementación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D854FE0D-897C-C39C-D3BC-D3CFD91AE3A7}"/>
              </a:ext>
            </a:extLst>
          </p:cNvPr>
          <p:cNvCxnSpPr>
            <a:cxnSpLocks/>
            <a:stCxn id="59" idx="0"/>
            <a:endCxn id="58" idx="2"/>
          </p:cNvCxnSpPr>
          <p:nvPr/>
        </p:nvCxnSpPr>
        <p:spPr>
          <a:xfrm flipH="1" flipV="1">
            <a:off x="9931563" y="4025811"/>
            <a:ext cx="1914" cy="245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464EAA0E-61C3-6984-CAC4-569F07B5B090}"/>
              </a:ext>
            </a:extLst>
          </p:cNvPr>
          <p:cNvCxnSpPr/>
          <p:nvPr/>
        </p:nvCxnSpPr>
        <p:spPr>
          <a:xfrm flipH="1" flipV="1">
            <a:off x="11403909" y="3072854"/>
            <a:ext cx="3" cy="360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Rectángulo 67">
            <a:extLst>
              <a:ext uri="{FF2B5EF4-FFF2-40B4-BE49-F238E27FC236}">
                <a16:creationId xmlns:a16="http://schemas.microsoft.com/office/drawing/2014/main" id="{680F8482-62E5-88F8-BFD3-9DCF4447E1B2}"/>
              </a:ext>
            </a:extLst>
          </p:cNvPr>
          <p:cNvSpPr/>
          <p:nvPr/>
        </p:nvSpPr>
        <p:spPr>
          <a:xfrm>
            <a:off x="10747265" y="3428996"/>
            <a:ext cx="1313299" cy="59681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Mejora Continua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747856B-84FE-1DE6-F882-AFED8728B09E}"/>
              </a:ext>
            </a:extLst>
          </p:cNvPr>
          <p:cNvSpPr/>
          <p:nvPr/>
        </p:nvSpPr>
        <p:spPr>
          <a:xfrm>
            <a:off x="10747263" y="4271292"/>
            <a:ext cx="1313299" cy="19150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Planificar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Hacer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Verificar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200" dirty="0"/>
              <a:t>Actuar</a:t>
            </a:r>
          </a:p>
        </p:txBody>
      </p: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EA8862D9-5C4E-F886-8242-EEDE3B5B32BF}"/>
              </a:ext>
            </a:extLst>
          </p:cNvPr>
          <p:cNvCxnSpPr>
            <a:cxnSpLocks/>
            <a:stCxn id="69" idx="0"/>
            <a:endCxn id="68" idx="2"/>
          </p:cNvCxnSpPr>
          <p:nvPr/>
        </p:nvCxnSpPr>
        <p:spPr>
          <a:xfrm flipV="1">
            <a:off x="11403913" y="4025811"/>
            <a:ext cx="2" cy="245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50314F08-AE02-D9F8-89C4-7DFD30C9854A}"/>
              </a:ext>
            </a:extLst>
          </p:cNvPr>
          <p:cNvCxnSpPr/>
          <p:nvPr/>
        </p:nvCxnSpPr>
        <p:spPr>
          <a:xfrm flipH="1" flipV="1">
            <a:off x="9921337" y="3063855"/>
            <a:ext cx="3" cy="360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1524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063CF-5075-D895-E52A-7C9A7764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98A7AC8-526A-571C-AECF-0DC591D4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Comparativa de Metodologías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39C3ED9-4C32-5779-296E-531F97370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260367"/>
              </p:ext>
            </p:extLst>
          </p:nvPr>
        </p:nvGraphicFramePr>
        <p:xfrm>
          <a:off x="113650" y="1373524"/>
          <a:ext cx="9871106" cy="54489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6800">
                  <a:extLst>
                    <a:ext uri="{9D8B030D-6E8A-4147-A177-3AD203B41FA5}">
                      <a16:colId xmlns:a16="http://schemas.microsoft.com/office/drawing/2014/main" val="1730865202"/>
                    </a:ext>
                  </a:extLst>
                </a:gridCol>
                <a:gridCol w="893987">
                  <a:extLst>
                    <a:ext uri="{9D8B030D-6E8A-4147-A177-3AD203B41FA5}">
                      <a16:colId xmlns:a16="http://schemas.microsoft.com/office/drawing/2014/main" val="947986711"/>
                    </a:ext>
                  </a:extLst>
                </a:gridCol>
                <a:gridCol w="1832673">
                  <a:extLst>
                    <a:ext uri="{9D8B030D-6E8A-4147-A177-3AD203B41FA5}">
                      <a16:colId xmlns:a16="http://schemas.microsoft.com/office/drawing/2014/main" val="2493095665"/>
                    </a:ext>
                  </a:extLst>
                </a:gridCol>
                <a:gridCol w="1776800">
                  <a:extLst>
                    <a:ext uri="{9D8B030D-6E8A-4147-A177-3AD203B41FA5}">
                      <a16:colId xmlns:a16="http://schemas.microsoft.com/office/drawing/2014/main" val="432783688"/>
                    </a:ext>
                  </a:extLst>
                </a:gridCol>
                <a:gridCol w="1802872">
                  <a:extLst>
                    <a:ext uri="{9D8B030D-6E8A-4147-A177-3AD203B41FA5}">
                      <a16:colId xmlns:a16="http://schemas.microsoft.com/office/drawing/2014/main" val="1977881429"/>
                    </a:ext>
                  </a:extLst>
                </a:gridCol>
                <a:gridCol w="1787974">
                  <a:extLst>
                    <a:ext uri="{9D8B030D-6E8A-4147-A177-3AD203B41FA5}">
                      <a16:colId xmlns:a16="http://schemas.microsoft.com/office/drawing/2014/main" val="1621941638"/>
                    </a:ext>
                  </a:extLst>
                </a:gridCol>
              </a:tblGrid>
              <a:tr h="1445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Criterio de evaluación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Peso (%)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Waterfall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Scrum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Kanban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Espiral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134283"/>
                  </a:ext>
                </a:extLst>
              </a:tr>
              <a:tr h="1011975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Flexibilidad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25%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Es rígido y lineal, cualquier cambios retrocede fases completas y no es adecuado en contextos de evolución rápida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Cambios son esperables dentro de los sprint, backlog se ajusta continuamente, ideal para proyectos que maduran iterativamente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Muy flexible dentro del proyecto, pero no define ciclos formales para controlar cambios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Iterativo y adaptable, permite revisiones por cada vuelta, estructura y carga documental rígida en algunas fases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709237"/>
                  </a:ext>
                </a:extLst>
              </a:tr>
              <a:tr h="14456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1.25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1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1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378284"/>
                  </a:ext>
                </a:extLst>
              </a:tr>
              <a:tr h="1156543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Riesgo y control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25%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Etapas de verificación claras, pero se detectas riesgos tarde y no existe un proceso iterativo de evaluación constante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Maneja riesgos sprint a sprint, no posee herramientas formales o técnicas específicas, no es ideal para proyectos de alta incertidumbre tecnológica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No posee estructura formal de gestión de riesgos, centrado más en flujo que en control predictivo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Maneja riesgos altos, cada vuelta exige evaluación de riesgos antes de empezar, metodología más robusta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558511"/>
                  </a:ext>
                </a:extLst>
              </a:tr>
              <a:tr h="14456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>
                          <a:effectLst/>
                        </a:rPr>
                        <a:t>0.75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0.75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1.25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519838"/>
                  </a:ext>
                </a:extLst>
              </a:tr>
              <a:tr h="72283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Tiempos y entregas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20%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Largos periodos sin entregables funcionales, el usuario solo ve el producto al final. Muy arriesgado.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Entregables frecuentes e ideal para mostrar avances, permite </a:t>
                      </a:r>
                      <a:r>
                        <a:rPr lang="es-CL" sz="1000" b="0" u="none" strike="noStrike" dirty="0" err="1">
                          <a:effectLst/>
                        </a:rPr>
                        <a:t>feedback</a:t>
                      </a:r>
                      <a:r>
                        <a:rPr lang="es-CL" sz="1000" b="0" u="none" strike="noStrike" dirty="0">
                          <a:effectLst/>
                        </a:rPr>
                        <a:t> temprano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Flujo continuo de tareas y entregables constantes pero no define intervalos formales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Entregas por ciclos que pueden ser largos, buen control, pero no necesariamente rápido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06454"/>
                  </a:ext>
                </a:extLst>
              </a:tr>
              <a:tr h="14456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0.4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1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0.8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0.6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611454"/>
                  </a:ext>
                </a:extLst>
              </a:tr>
              <a:tr h="72283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Complejidad de proceso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15%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Fácil de entender y secuencial. Su rigidez presenta un problema para un solo desarrollador.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Requiere roles, un solo desarrollador necesita fusionarlos. Sigue siendo aplicable.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Muy simple, solo se necesita un tablero con estados de tareas y es perfecta para proyectos individuales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Requiere documentación, evaluación de riesgos, revisión formal por ciclo.</a:t>
                      </a:r>
                      <a:endParaRPr lang="es-MX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024661"/>
                  </a:ext>
                </a:extLst>
              </a:tr>
              <a:tr h="14456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>
                          <a:effectLst/>
                        </a:rPr>
                        <a:t>0.45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0.45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0.75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0.15</a:t>
                      </a:r>
                      <a:endParaRPr lang="es-CL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588546"/>
                  </a:ext>
                </a:extLst>
              </a:tr>
              <a:tr h="72283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Enfoque en calidad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15%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Etapa de pruebas clara y completa, pero solo al final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Calidad de sprint a sprint, retroalimentación inmediata, no exige formalidad documental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>
                          <a:effectLst/>
                        </a:rPr>
                        <a:t>No incluye fases de pruebas, depede del desarrollador</a:t>
                      </a:r>
                      <a:endParaRPr lang="es-MX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MX" sz="1000" b="0" u="none" strike="noStrike" dirty="0">
                          <a:effectLst/>
                        </a:rPr>
                        <a:t>Requiere validación técnica en cada ciclo.</a:t>
                      </a:r>
                      <a:endParaRPr lang="es-MX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5504"/>
                  </a:ext>
                </a:extLst>
              </a:tr>
              <a:tr h="14456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0.45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0.6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0.45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u="none" strike="noStrike" dirty="0">
                          <a:effectLst/>
                        </a:rPr>
                        <a:t>0.75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981510"/>
                  </a:ext>
                </a:extLst>
              </a:tr>
              <a:tr h="1445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000" u="none" strike="noStrike" dirty="0">
                          <a:effectLst/>
                        </a:rPr>
                        <a:t>Ponderación</a:t>
                      </a:r>
                      <a:endParaRPr lang="es-C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 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2.55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u="none" strike="noStrike">
                          <a:effectLst/>
                        </a:rPr>
                        <a:t>4.05</a:t>
                      </a:r>
                      <a:endParaRPr lang="es-C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3.75</a:t>
                      </a:r>
                    </a:p>
                  </a:txBody>
                  <a:tcPr marL="6449" marR="6449" marT="644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98126"/>
                  </a:ext>
                </a:extLst>
              </a:tr>
            </a:tbl>
          </a:graphicData>
        </a:graphic>
      </p:graphicFrame>
      <p:sp>
        <p:nvSpPr>
          <p:cNvPr id="3" name="Rectángulo 2">
            <a:extLst>
              <a:ext uri="{FF2B5EF4-FFF2-40B4-BE49-F238E27FC236}">
                <a16:creationId xmlns:a16="http://schemas.microsoft.com/office/drawing/2014/main" id="{1140CAC1-7EB0-9045-AE27-6B801F7C4F11}"/>
              </a:ext>
            </a:extLst>
          </p:cNvPr>
          <p:cNvSpPr/>
          <p:nvPr/>
        </p:nvSpPr>
        <p:spPr>
          <a:xfrm>
            <a:off x="10117721" y="3184035"/>
            <a:ext cx="288435" cy="22092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125A667-FFF7-9512-01F0-8B6C8282F781}"/>
              </a:ext>
            </a:extLst>
          </p:cNvPr>
          <p:cNvSpPr/>
          <p:nvPr/>
        </p:nvSpPr>
        <p:spPr>
          <a:xfrm>
            <a:off x="10121816" y="3561199"/>
            <a:ext cx="288435" cy="2209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758998D-3C6A-66E8-0A40-366A28DA0B08}"/>
              </a:ext>
            </a:extLst>
          </p:cNvPr>
          <p:cNvSpPr/>
          <p:nvPr/>
        </p:nvSpPr>
        <p:spPr>
          <a:xfrm>
            <a:off x="10117725" y="3911258"/>
            <a:ext cx="288435" cy="2209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97AD227-5610-1438-7E13-A2A13640B1B3}"/>
              </a:ext>
            </a:extLst>
          </p:cNvPr>
          <p:cNvSpPr/>
          <p:nvPr/>
        </p:nvSpPr>
        <p:spPr>
          <a:xfrm>
            <a:off x="10121816" y="4274868"/>
            <a:ext cx="288435" cy="2209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B3092B6-6778-9F33-AEEC-38CFB485949C}"/>
              </a:ext>
            </a:extLst>
          </p:cNvPr>
          <p:cNvSpPr/>
          <p:nvPr/>
        </p:nvSpPr>
        <p:spPr>
          <a:xfrm>
            <a:off x="10121816" y="4638481"/>
            <a:ext cx="288435" cy="220929"/>
          </a:xfrm>
          <a:prstGeom prst="rect">
            <a:avLst/>
          </a:prstGeom>
          <a:solidFill>
            <a:srgbClr val="FF5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B97A36-DCBC-8114-646D-7AFF35DEAE82}"/>
              </a:ext>
            </a:extLst>
          </p:cNvPr>
          <p:cNvSpPr txBox="1"/>
          <p:nvPr/>
        </p:nvSpPr>
        <p:spPr>
          <a:xfrm>
            <a:off x="10406154" y="3145260"/>
            <a:ext cx="16649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Recomendado (5)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47429C8-19BA-0E0A-9518-E19DE0728C92}"/>
              </a:ext>
            </a:extLst>
          </p:cNvPr>
          <p:cNvSpPr txBox="1"/>
          <p:nvPr/>
        </p:nvSpPr>
        <p:spPr>
          <a:xfrm>
            <a:off x="10413447" y="3517774"/>
            <a:ext cx="127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s-CL" dirty="0"/>
              <a:t>Bueno (4)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632338-FE09-96BE-5CA0-DC2DEB7932F7}"/>
              </a:ext>
            </a:extLst>
          </p:cNvPr>
          <p:cNvSpPr txBox="1"/>
          <p:nvPr/>
        </p:nvSpPr>
        <p:spPr>
          <a:xfrm>
            <a:off x="10413447" y="3857934"/>
            <a:ext cx="127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s-CL" dirty="0"/>
              <a:t>Aceptable (3)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12F4245-E2B6-8FFE-D135-840D10BF9621}"/>
              </a:ext>
            </a:extLst>
          </p:cNvPr>
          <p:cNvSpPr txBox="1"/>
          <p:nvPr/>
        </p:nvSpPr>
        <p:spPr>
          <a:xfrm>
            <a:off x="10413447" y="4229941"/>
            <a:ext cx="127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s-CL" dirty="0"/>
              <a:t>Deficiente (2)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69F678F-3C58-14E1-4CC4-BD743EFF8BC1}"/>
              </a:ext>
            </a:extLst>
          </p:cNvPr>
          <p:cNvSpPr txBox="1"/>
          <p:nvPr/>
        </p:nvSpPr>
        <p:spPr>
          <a:xfrm>
            <a:off x="10413446" y="4593894"/>
            <a:ext cx="1731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/>
              <a:t>No recomendado (1)</a:t>
            </a:r>
          </a:p>
        </p:txBody>
      </p:sp>
    </p:spTree>
    <p:extLst>
      <p:ext uri="{BB962C8B-B14F-4D97-AF65-F5344CB8AC3E}">
        <p14:creationId xmlns:p14="http://schemas.microsoft.com/office/powerpoint/2010/main" val="356272751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208A-1272-CADC-999E-C8C3683B2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C917A8A-04BE-B1AD-A71E-6CADFDDC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Requerimientos Funcionales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3177F14-6C74-BF2E-6D1E-249A086E7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951596"/>
              </p:ext>
            </p:extLst>
          </p:nvPr>
        </p:nvGraphicFramePr>
        <p:xfrm>
          <a:off x="247650" y="1397532"/>
          <a:ext cx="11477093" cy="5168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509">
                  <a:extLst>
                    <a:ext uri="{9D8B030D-6E8A-4147-A177-3AD203B41FA5}">
                      <a16:colId xmlns:a16="http://schemas.microsoft.com/office/drawing/2014/main" val="1086066925"/>
                    </a:ext>
                  </a:extLst>
                </a:gridCol>
                <a:gridCol w="1579192">
                  <a:extLst>
                    <a:ext uri="{9D8B030D-6E8A-4147-A177-3AD203B41FA5}">
                      <a16:colId xmlns:a16="http://schemas.microsoft.com/office/drawing/2014/main" val="2798633909"/>
                    </a:ext>
                  </a:extLst>
                </a:gridCol>
                <a:gridCol w="1509316">
                  <a:extLst>
                    <a:ext uri="{9D8B030D-6E8A-4147-A177-3AD203B41FA5}">
                      <a16:colId xmlns:a16="http://schemas.microsoft.com/office/drawing/2014/main" val="528401953"/>
                    </a:ext>
                  </a:extLst>
                </a:gridCol>
                <a:gridCol w="1481366">
                  <a:extLst>
                    <a:ext uri="{9D8B030D-6E8A-4147-A177-3AD203B41FA5}">
                      <a16:colId xmlns:a16="http://schemas.microsoft.com/office/drawing/2014/main" val="1539440881"/>
                    </a:ext>
                  </a:extLst>
                </a:gridCol>
                <a:gridCol w="4641707">
                  <a:extLst>
                    <a:ext uri="{9D8B030D-6E8A-4147-A177-3AD203B41FA5}">
                      <a16:colId xmlns:a16="http://schemas.microsoft.com/office/drawing/2014/main" val="2783428167"/>
                    </a:ext>
                  </a:extLst>
                </a:gridCol>
                <a:gridCol w="1427003">
                  <a:extLst>
                    <a:ext uri="{9D8B030D-6E8A-4147-A177-3AD203B41FA5}">
                      <a16:colId xmlns:a16="http://schemas.microsoft.com/office/drawing/2014/main" val="3880512562"/>
                    </a:ext>
                  </a:extLst>
                </a:gridCol>
              </a:tblGrid>
              <a:tr h="31578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ID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Nombre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Tipo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Clasificación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Descripción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Prioridad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880384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RF01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Gestión de acceso de usuarios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Usuario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sistema debe permitir que el usuario se registre e inicie sesión para acceder a los módulos del prototipo.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8916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RF02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Acceso a la base de conocimiento T1566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Contenido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sistema debe mostrar al usuario la información estructurada sobre la técnica T1566 y sus </a:t>
                      </a:r>
                      <a:r>
                        <a:rPr lang="es-MX" sz="1200" u="none" strike="noStrike" dirty="0" err="1">
                          <a:effectLst/>
                        </a:rPr>
                        <a:t>sub-técnicas</a:t>
                      </a:r>
                      <a:r>
                        <a:rPr lang="es-MX" sz="1200" u="none" strike="noStrike" dirty="0">
                          <a:effectLst/>
                        </a:rPr>
                        <a:t>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460932"/>
                  </a:ext>
                </a:extLst>
              </a:tr>
              <a:tr h="8494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RF03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u="none" strike="noStrike">
                          <a:effectLst/>
                        </a:rPr>
                        <a:t>Visualización de ejemplos híbridos de phishing</a:t>
                      </a:r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Funcional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Contenido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>
                          <a:effectLst/>
                        </a:rPr>
                        <a:t>El sistema debe proporcionar ejemplos híbridos de phishing con explicación y elementos detallados.</a:t>
                      </a:r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89795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RF04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Comparación entre sitio legítimo y falso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Interacción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>
                          <a:effectLst/>
                        </a:rPr>
                        <a:t>El usuario debe poder comparar un sitio legítimo simulado con uno falso mediante una interfaz comparativa interactiva.</a:t>
                      </a:r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70607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RF05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Evaluación final calificada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Funcional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Usuario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sistema debe mostrar una evaluación final de al menos 3 preguntas para medir el nivel de detección del usuario.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3548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RF06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Ejecución de módulos interactivos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Interacción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>
                          <a:effectLst/>
                        </a:rPr>
                        <a:t>El usuario debe poder realizar actividades prácticas para identificar señales de phishing y registrar su progreso.</a:t>
                      </a:r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Media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980092"/>
                  </a:ext>
                </a:extLst>
              </a:tr>
              <a:tr h="5715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RF07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Registro de resultados de evaluación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Sistema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sistema debe almacenar localmente los resultados obtenidos por el usuario en la evaluación final.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Media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60417"/>
                  </a:ext>
                </a:extLst>
              </a:tr>
              <a:tr h="5742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RF08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Gestión de encuestas inicial y final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Usuario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prototipo debe permitir que el usuario complete la encuesta inicial de conocimiento y la encuesta final de evaluación de la herramienta.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Media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639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13544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8AF8-3D98-2F47-A05A-E47AB452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79D7936-5C19-9E36-E28A-D5909926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Requerimientos No Funcionales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1FA440C-0923-F1E5-0299-AE895FC90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55810"/>
              </p:ext>
            </p:extLst>
          </p:nvPr>
        </p:nvGraphicFramePr>
        <p:xfrm>
          <a:off x="483283" y="1431432"/>
          <a:ext cx="11250494" cy="52700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95987">
                  <a:extLst>
                    <a:ext uri="{9D8B030D-6E8A-4147-A177-3AD203B41FA5}">
                      <a16:colId xmlns:a16="http://schemas.microsoft.com/office/drawing/2014/main" val="2810367805"/>
                    </a:ext>
                  </a:extLst>
                </a:gridCol>
                <a:gridCol w="2108170">
                  <a:extLst>
                    <a:ext uri="{9D8B030D-6E8A-4147-A177-3AD203B41FA5}">
                      <a16:colId xmlns:a16="http://schemas.microsoft.com/office/drawing/2014/main" val="2267124853"/>
                    </a:ext>
                  </a:extLst>
                </a:gridCol>
                <a:gridCol w="1809375">
                  <a:extLst>
                    <a:ext uri="{9D8B030D-6E8A-4147-A177-3AD203B41FA5}">
                      <a16:colId xmlns:a16="http://schemas.microsoft.com/office/drawing/2014/main" val="2077695533"/>
                    </a:ext>
                  </a:extLst>
                </a:gridCol>
                <a:gridCol w="1482664">
                  <a:extLst>
                    <a:ext uri="{9D8B030D-6E8A-4147-A177-3AD203B41FA5}">
                      <a16:colId xmlns:a16="http://schemas.microsoft.com/office/drawing/2014/main" val="2827861133"/>
                    </a:ext>
                  </a:extLst>
                </a:gridCol>
                <a:gridCol w="3522167">
                  <a:extLst>
                    <a:ext uri="{9D8B030D-6E8A-4147-A177-3AD203B41FA5}">
                      <a16:colId xmlns:a16="http://schemas.microsoft.com/office/drawing/2014/main" val="242422257"/>
                    </a:ext>
                  </a:extLst>
                </a:gridCol>
                <a:gridCol w="1332131">
                  <a:extLst>
                    <a:ext uri="{9D8B030D-6E8A-4147-A177-3AD203B41FA5}">
                      <a16:colId xmlns:a16="http://schemas.microsoft.com/office/drawing/2014/main" val="1790135277"/>
                    </a:ext>
                  </a:extLst>
                </a:gridCol>
              </a:tblGrid>
              <a:tr h="2162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ID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Nombre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Tipo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Clasificación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Descripción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Prioridad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03026"/>
                  </a:ext>
                </a:extLst>
              </a:tr>
              <a:tr h="10812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RNF01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Compatibilidad con Windows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No Funcional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Compatibilidad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sistema debe funcionar correctamente en equipos con sistema operativo Windows y ejecutarse mediante un navegador web estándar.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894115"/>
                  </a:ext>
                </a:extLst>
              </a:tr>
              <a:tr h="7290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RNF02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Usabilidad de la interfaz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No Funcional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Usabilidad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La interfaz debe ser clara, intuitiva y navegable para estudiantes sin experiencia técnica, manteniendo consistencia visual en todas las pantallas.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87604"/>
                  </a:ext>
                </a:extLst>
              </a:tr>
              <a:tr h="10812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RNF03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Seguridad básica de datos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No Funcional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Seguridad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sistema debe resguardar la información ingresada por el usuario evitando su exposición, almacenándola únicamente de forma local sin transmisión externa.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Alta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002384"/>
                  </a:ext>
                </a:extLst>
              </a:tr>
              <a:tr h="10812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RNF04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Rendimiento mínimo del prototipo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No 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Rendimiento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Las páginas y módulos deben cargar en un tiempo aceptable.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Media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68585"/>
                  </a:ext>
                </a:extLst>
              </a:tr>
              <a:tr h="10812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RNF05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Estabilidad del sistema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>
                          <a:effectLst/>
                        </a:rPr>
                        <a:t>No Funcional</a:t>
                      </a:r>
                      <a:endParaRPr lang="es-C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Sistema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s-MX" sz="1200" u="none" strike="noStrike" dirty="0">
                          <a:effectLst/>
                        </a:rPr>
                        <a:t>El prototipo debe ejecutarse sin errores críticos durante las actividades principales.</a:t>
                      </a:r>
                      <a:endParaRPr lang="es-MX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u="none" strike="noStrike" dirty="0">
                          <a:effectLst/>
                        </a:rPr>
                        <a:t>Media</a:t>
                      </a:r>
                      <a:endParaRPr lang="es-C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73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37323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7699-6CED-9D86-C1D2-1F80E45ED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A156625-52DA-3848-AB83-4B6BCE7F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Historias de Usuario</a:t>
            </a:r>
          </a:p>
        </p:txBody>
      </p:sp>
      <p:sp>
        <p:nvSpPr>
          <p:cNvPr id="11" name="Rectángulo: una sola esquina cortada 10">
            <a:extLst>
              <a:ext uri="{FF2B5EF4-FFF2-40B4-BE49-F238E27FC236}">
                <a16:creationId xmlns:a16="http://schemas.microsoft.com/office/drawing/2014/main" id="{C2993860-3FEB-F573-CD9E-96D59A368252}"/>
              </a:ext>
            </a:extLst>
          </p:cNvPr>
          <p:cNvSpPr/>
          <p:nvPr/>
        </p:nvSpPr>
        <p:spPr>
          <a:xfrm>
            <a:off x="306803" y="3019796"/>
            <a:ext cx="3448348" cy="1609311"/>
          </a:xfrm>
          <a:prstGeom prst="snip1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Cómo usuario, quiero registrarme e iniciar sesión para acceder de forma personalizada al contenido del prototipo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A42E9D1-37E1-1C9F-8579-2B0C9744D90D}"/>
              </a:ext>
            </a:extLst>
          </p:cNvPr>
          <p:cNvCxnSpPr>
            <a:cxnSpLocks/>
          </p:cNvCxnSpPr>
          <p:nvPr/>
        </p:nvCxnSpPr>
        <p:spPr>
          <a:xfrm>
            <a:off x="306803" y="3389128"/>
            <a:ext cx="3448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EB1E6D0-E39B-37A6-0C6B-F8B1F2C7A102}"/>
              </a:ext>
            </a:extLst>
          </p:cNvPr>
          <p:cNvSpPr txBox="1"/>
          <p:nvPr/>
        </p:nvSpPr>
        <p:spPr>
          <a:xfrm>
            <a:off x="351252" y="3019796"/>
            <a:ext cx="29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4EF95E8-B8BE-F915-92D5-EB54874368E8}"/>
              </a:ext>
            </a:extLst>
          </p:cNvPr>
          <p:cNvSpPr/>
          <p:nvPr/>
        </p:nvSpPr>
        <p:spPr>
          <a:xfrm>
            <a:off x="306803" y="4630098"/>
            <a:ext cx="1724174" cy="2286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Validación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F84ADEE-E052-FFD7-3E04-28265E0820C5}"/>
              </a:ext>
            </a:extLst>
          </p:cNvPr>
          <p:cNvSpPr/>
          <p:nvPr/>
        </p:nvSpPr>
        <p:spPr>
          <a:xfrm>
            <a:off x="2030977" y="4629106"/>
            <a:ext cx="1724174" cy="3908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Peso: 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BFD16C5-6079-D9CA-4FCB-660946D4B8C2}"/>
              </a:ext>
            </a:extLst>
          </p:cNvPr>
          <p:cNvSpPr/>
          <p:nvPr/>
        </p:nvSpPr>
        <p:spPr>
          <a:xfrm>
            <a:off x="2030977" y="5019995"/>
            <a:ext cx="1724174" cy="466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Prioridad: Alta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C5644BD-118E-AD16-DFE4-5D45D07A0580}"/>
              </a:ext>
            </a:extLst>
          </p:cNvPr>
          <p:cNvSpPr/>
          <p:nvPr/>
        </p:nvSpPr>
        <p:spPr>
          <a:xfrm>
            <a:off x="2030977" y="5486400"/>
            <a:ext cx="1724174" cy="466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Estimación: 8 h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A72ED41-00C3-A4AB-8413-D5AF67C70EC9}"/>
              </a:ext>
            </a:extLst>
          </p:cNvPr>
          <p:cNvSpPr/>
          <p:nvPr/>
        </p:nvSpPr>
        <p:spPr>
          <a:xfrm>
            <a:off x="306803" y="4857708"/>
            <a:ext cx="1724174" cy="10950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El sistema permite registrar un usuario, iniciar sesión y acceder al menú principal</a:t>
            </a:r>
          </a:p>
        </p:txBody>
      </p:sp>
      <p:sp>
        <p:nvSpPr>
          <p:cNvPr id="26" name="Rectángulo: una sola esquina cortada 25">
            <a:extLst>
              <a:ext uri="{FF2B5EF4-FFF2-40B4-BE49-F238E27FC236}">
                <a16:creationId xmlns:a16="http://schemas.microsoft.com/office/drawing/2014/main" id="{1989EBFC-7193-7294-4570-E47D972C9880}"/>
              </a:ext>
            </a:extLst>
          </p:cNvPr>
          <p:cNvSpPr/>
          <p:nvPr/>
        </p:nvSpPr>
        <p:spPr>
          <a:xfrm>
            <a:off x="4239541" y="1596556"/>
            <a:ext cx="3448348" cy="1609311"/>
          </a:xfrm>
          <a:prstGeom prst="snip1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dirty="0">
                <a:solidFill>
                  <a:schemeClr val="tx1"/>
                </a:solidFill>
              </a:rPr>
              <a:t>Como usuario, quiero visualizar la información de la técnica T1566 para comprender las bases del phishing y sus variantes.</a:t>
            </a:r>
            <a:endParaRPr lang="es-CL" sz="1600" dirty="0">
              <a:solidFill>
                <a:schemeClr val="tx1"/>
              </a:solidFill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B810314-7F24-96D9-6A9B-770852D1F212}"/>
              </a:ext>
            </a:extLst>
          </p:cNvPr>
          <p:cNvCxnSpPr>
            <a:cxnSpLocks/>
          </p:cNvCxnSpPr>
          <p:nvPr/>
        </p:nvCxnSpPr>
        <p:spPr>
          <a:xfrm>
            <a:off x="4239541" y="1965888"/>
            <a:ext cx="3448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DAA835F-7521-96A1-984C-81BCD4A6322E}"/>
              </a:ext>
            </a:extLst>
          </p:cNvPr>
          <p:cNvSpPr txBox="1"/>
          <p:nvPr/>
        </p:nvSpPr>
        <p:spPr>
          <a:xfrm>
            <a:off x="4283990" y="1596556"/>
            <a:ext cx="29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2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24C7862-CBA7-E9C0-1B87-9EDF678B5675}"/>
              </a:ext>
            </a:extLst>
          </p:cNvPr>
          <p:cNvSpPr/>
          <p:nvPr/>
        </p:nvSpPr>
        <p:spPr>
          <a:xfrm>
            <a:off x="4239541" y="3206858"/>
            <a:ext cx="1724174" cy="2286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Validación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5652343-D851-D570-5831-2B14C3E04E8A}"/>
              </a:ext>
            </a:extLst>
          </p:cNvPr>
          <p:cNvSpPr/>
          <p:nvPr/>
        </p:nvSpPr>
        <p:spPr>
          <a:xfrm>
            <a:off x="5963715" y="3205866"/>
            <a:ext cx="1724174" cy="3908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Peso: 3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EC95276-B29E-F9EA-FF47-181607BDD983}"/>
              </a:ext>
            </a:extLst>
          </p:cNvPr>
          <p:cNvSpPr/>
          <p:nvPr/>
        </p:nvSpPr>
        <p:spPr>
          <a:xfrm>
            <a:off x="5963715" y="3596755"/>
            <a:ext cx="1724174" cy="466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Prioridad: Alta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8A0D6C5-B5FF-606E-DF77-EDE2577CD445}"/>
              </a:ext>
            </a:extLst>
          </p:cNvPr>
          <p:cNvSpPr/>
          <p:nvPr/>
        </p:nvSpPr>
        <p:spPr>
          <a:xfrm>
            <a:off x="5963715" y="4063160"/>
            <a:ext cx="1724174" cy="466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Estimación: 5 h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B16B70C-3F16-3F16-9783-764085F852EA}"/>
              </a:ext>
            </a:extLst>
          </p:cNvPr>
          <p:cNvSpPr/>
          <p:nvPr/>
        </p:nvSpPr>
        <p:spPr>
          <a:xfrm>
            <a:off x="4239541" y="3434468"/>
            <a:ext cx="1724174" cy="10950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dirty="0">
                <a:solidFill>
                  <a:schemeClr val="tx1"/>
                </a:solidFill>
              </a:rPr>
              <a:t>Se muestra contenido estructurado y navegable de T1566 sin errores.</a:t>
            </a:r>
            <a:endParaRPr lang="es-CL" sz="1200" dirty="0">
              <a:solidFill>
                <a:schemeClr val="tx1"/>
              </a:solidFill>
            </a:endParaRPr>
          </a:p>
        </p:txBody>
      </p:sp>
      <p:sp>
        <p:nvSpPr>
          <p:cNvPr id="34" name="Rectángulo: una sola esquina cortada 33">
            <a:extLst>
              <a:ext uri="{FF2B5EF4-FFF2-40B4-BE49-F238E27FC236}">
                <a16:creationId xmlns:a16="http://schemas.microsoft.com/office/drawing/2014/main" id="{8CCD3FDB-9528-A1D9-88BB-2F92258ADC48}"/>
              </a:ext>
            </a:extLst>
          </p:cNvPr>
          <p:cNvSpPr/>
          <p:nvPr/>
        </p:nvSpPr>
        <p:spPr>
          <a:xfrm>
            <a:off x="8172279" y="3038731"/>
            <a:ext cx="3448348" cy="1609311"/>
          </a:xfrm>
          <a:prstGeom prst="snip1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dirty="0">
                <a:solidFill>
                  <a:schemeClr val="tx1"/>
                </a:solidFill>
              </a:rPr>
              <a:t>Como usuario, quiero acceder a ejemplos híbridos de phishing para reconocer señales visuales y textuales de fraude.</a:t>
            </a:r>
            <a:endParaRPr lang="es-CL" sz="1600" dirty="0">
              <a:solidFill>
                <a:schemeClr val="tx1"/>
              </a:solidFill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0B7F18C5-80A4-A811-BDBF-9F7F4B767136}"/>
              </a:ext>
            </a:extLst>
          </p:cNvPr>
          <p:cNvCxnSpPr>
            <a:cxnSpLocks/>
          </p:cNvCxnSpPr>
          <p:nvPr/>
        </p:nvCxnSpPr>
        <p:spPr>
          <a:xfrm>
            <a:off x="8172279" y="3408063"/>
            <a:ext cx="34483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9E0F2F2-D564-D42C-77B9-091AB87D4276}"/>
              </a:ext>
            </a:extLst>
          </p:cNvPr>
          <p:cNvSpPr txBox="1"/>
          <p:nvPr/>
        </p:nvSpPr>
        <p:spPr>
          <a:xfrm>
            <a:off x="8216728" y="3038731"/>
            <a:ext cx="295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3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3EF65EF2-D7AB-5A4B-AD0D-4C54CD315452}"/>
              </a:ext>
            </a:extLst>
          </p:cNvPr>
          <p:cNvSpPr/>
          <p:nvPr/>
        </p:nvSpPr>
        <p:spPr>
          <a:xfrm>
            <a:off x="8172279" y="4649033"/>
            <a:ext cx="1724174" cy="2286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Validación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F3F95AA2-05AC-7414-7042-31EE58CF400A}"/>
              </a:ext>
            </a:extLst>
          </p:cNvPr>
          <p:cNvSpPr/>
          <p:nvPr/>
        </p:nvSpPr>
        <p:spPr>
          <a:xfrm>
            <a:off x="9896453" y="4648041"/>
            <a:ext cx="1724174" cy="39088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Peso: 5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7D06962-4C63-4305-03FB-89FE30211F51}"/>
              </a:ext>
            </a:extLst>
          </p:cNvPr>
          <p:cNvSpPr/>
          <p:nvPr/>
        </p:nvSpPr>
        <p:spPr>
          <a:xfrm>
            <a:off x="9896453" y="5038930"/>
            <a:ext cx="1724174" cy="466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Prioridad: Alta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04FBE82-D4E9-E5DD-393E-23B23DC538C1}"/>
              </a:ext>
            </a:extLst>
          </p:cNvPr>
          <p:cNvSpPr/>
          <p:nvPr/>
        </p:nvSpPr>
        <p:spPr>
          <a:xfrm>
            <a:off x="9896453" y="5505335"/>
            <a:ext cx="1724174" cy="4664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>
                <a:solidFill>
                  <a:schemeClr val="tx1"/>
                </a:solidFill>
              </a:rPr>
              <a:t>Estimación: 8 h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5E08AEE0-D34A-EFDA-754D-5044FA310E6C}"/>
              </a:ext>
            </a:extLst>
          </p:cNvPr>
          <p:cNvSpPr/>
          <p:nvPr/>
        </p:nvSpPr>
        <p:spPr>
          <a:xfrm>
            <a:off x="8172279" y="4876643"/>
            <a:ext cx="1724174" cy="10950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200" dirty="0">
                <a:solidFill>
                  <a:schemeClr val="tx1"/>
                </a:solidFill>
              </a:rPr>
              <a:t>Se despliegan los ejemplos con su explicación asociada.</a:t>
            </a:r>
            <a:endParaRPr lang="es-CL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6789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DEBEA-3A91-B369-D987-13E009C5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CF81440-9017-1400-BCAF-71CE598C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Plan de Gestión de Tiempo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58D1E5A-649D-ACF1-3BBD-56D9C39F0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501968"/>
              </p:ext>
            </p:extLst>
          </p:nvPr>
        </p:nvGraphicFramePr>
        <p:xfrm>
          <a:off x="340077" y="1386942"/>
          <a:ext cx="11534849" cy="5403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5761">
                  <a:extLst>
                    <a:ext uri="{9D8B030D-6E8A-4147-A177-3AD203B41FA5}">
                      <a16:colId xmlns:a16="http://schemas.microsoft.com/office/drawing/2014/main" val="711613603"/>
                    </a:ext>
                  </a:extLst>
                </a:gridCol>
                <a:gridCol w="2242288">
                  <a:extLst>
                    <a:ext uri="{9D8B030D-6E8A-4147-A177-3AD203B41FA5}">
                      <a16:colId xmlns:a16="http://schemas.microsoft.com/office/drawing/2014/main" val="3916688116"/>
                    </a:ext>
                  </a:extLst>
                </a:gridCol>
                <a:gridCol w="2242288">
                  <a:extLst>
                    <a:ext uri="{9D8B030D-6E8A-4147-A177-3AD203B41FA5}">
                      <a16:colId xmlns:a16="http://schemas.microsoft.com/office/drawing/2014/main" val="723957352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2345392948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379359077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1005145150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870782209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2698038368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3404714928"/>
                    </a:ext>
                  </a:extLst>
                </a:gridCol>
                <a:gridCol w="739216">
                  <a:extLst>
                    <a:ext uri="{9D8B030D-6E8A-4147-A177-3AD203B41FA5}">
                      <a16:colId xmlns:a16="http://schemas.microsoft.com/office/drawing/2014/main" val="518398004"/>
                    </a:ext>
                  </a:extLst>
                </a:gridCol>
              </a:tblGrid>
              <a:tr h="2841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 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ID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Tareas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T. Optimista 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T. Probable 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T. Pesimista 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Estimado 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Estimado por Fase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Inicio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Fin Estimado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699676"/>
                  </a:ext>
                </a:extLst>
              </a:tr>
              <a:tr h="42564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FASE 1: PLANIFICACIÓN Y ANÁLISIS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1.1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Levantamiento y validación de requisitos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58.67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02-mar-26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04-mar-26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497997"/>
                  </a:ext>
                </a:extLst>
              </a:tr>
              <a:tr h="14524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1.2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Plan de gestión del proyecto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34.67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05-mar-26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10-mar-26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929347"/>
                  </a:ext>
                </a:extLst>
              </a:tr>
              <a:tr h="42564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FASE 2: DISEÑO DETALLADO Y ESTRUCTURA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2.1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Diseño de arquitectura del sistema 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56.67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11-mar-26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13-mar-26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0817937"/>
                  </a:ext>
                </a:extLst>
              </a:tr>
              <a:tr h="14524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2.2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Diseño de interfaces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13-mar-26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17-mar-26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8263799"/>
                  </a:ext>
                </a:extLst>
              </a:tr>
              <a:tr h="28413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2.3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Definición de estructura de contenido T1566 y ejemplos híbridos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12.67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17-mar-26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18-mar-26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708727"/>
                  </a:ext>
                </a:extLst>
              </a:tr>
              <a:tr h="425648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FASE 3: IMPLEMENTACIÓN Y DESARROLLO 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3.1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Implementación del módulo de acceso de usuarios (HU01)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198.67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19-mar-26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23-mar-26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53654"/>
                  </a:ext>
                </a:extLst>
              </a:tr>
              <a:tr h="28413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3.2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Implementación base de conocimiento T1566 (HU02)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34.67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27-mar-26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329700"/>
                  </a:ext>
                </a:extLst>
              </a:tr>
              <a:tr h="28413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3.3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Desarrollo de ejemplos híbridos de phishing (HU03)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56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30-mar-26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03-abr-26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396125"/>
                  </a:ext>
                </a:extLst>
              </a:tr>
              <a:tr h="283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3.4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Módulo interactivo de comparación (HU04)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48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64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06-abr-26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13-abr-26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712807"/>
                  </a:ext>
                </a:extLst>
              </a:tr>
              <a:tr h="283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3.5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Desarrollo del examen final calificado (HU06)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24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14-abr-26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4460692"/>
                  </a:ext>
                </a:extLst>
              </a:tr>
              <a:tr h="284134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3.6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Encuestas inicial y final (HU08) + Registro de resultados (HU07)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19.33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17-abr-26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23-abr-26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598334"/>
                  </a:ext>
                </a:extLst>
              </a:tr>
              <a:tr h="42564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FASE 4: PRUEBAS Y VALIDACIÓN 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4.1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Pruebas funcionales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74.67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24-abr-26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29-abr-26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869489"/>
                  </a:ext>
                </a:extLst>
              </a:tr>
              <a:tr h="283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4.2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Pruebas de usabilidad con usuarios piloto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30-abr-26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04-may-26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311993"/>
                  </a:ext>
                </a:extLst>
              </a:tr>
              <a:tr h="283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4.3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Corrección de errores y ajustes finales 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20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28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22.67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05-may-26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06-may-26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490469"/>
                  </a:ext>
                </a:extLst>
              </a:tr>
              <a:tr h="42564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900" u="none" strike="noStrike" dirty="0">
                          <a:effectLst/>
                        </a:rPr>
                        <a:t>FASE 5: CIERRE Y DOCUMENTACIÓN</a:t>
                      </a:r>
                      <a:endParaRPr lang="es-MX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5.1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>
                          <a:effectLst/>
                        </a:rPr>
                        <a:t>Documentación del prototipo (memoria final)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80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120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140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07-may-26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29-jun-26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558472"/>
                  </a:ext>
                </a:extLst>
              </a:tr>
              <a:tr h="283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5.2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900" u="none" strike="noStrike">
                          <a:effectLst/>
                        </a:rPr>
                        <a:t>Preparación de presentación y defensa</a:t>
                      </a:r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16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28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20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>
                          <a:effectLst/>
                        </a:rPr>
                        <a:t>30-jun-26</a:t>
                      </a:r>
                      <a:endParaRPr lang="es-CL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05-jul-26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250060"/>
                  </a:ext>
                </a:extLst>
              </a:tr>
              <a:tr h="1452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 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TOTAL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Proyecto completado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356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506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688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520.01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528.68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 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dirty="0">
                          <a:effectLst/>
                        </a:rPr>
                        <a:t> </a:t>
                      </a:r>
                      <a:endParaRPr lang="es-CL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79" marR="6279" marT="6279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124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205235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EBF87-DA72-5426-29DB-31502C40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n 52">
            <a:extLst>
              <a:ext uri="{FF2B5EF4-FFF2-40B4-BE49-F238E27FC236}">
                <a16:creationId xmlns:a16="http://schemas.microsoft.com/office/drawing/2014/main" id="{D38C9C1C-231B-1657-6CCA-B7DD56049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145" y="2777418"/>
            <a:ext cx="888268" cy="866992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51EC21FA-A977-FAB4-17A4-26D8BEB1175E}"/>
              </a:ext>
            </a:extLst>
          </p:cNvPr>
          <p:cNvSpPr/>
          <p:nvPr/>
        </p:nvSpPr>
        <p:spPr>
          <a:xfrm>
            <a:off x="7708159" y="2698649"/>
            <a:ext cx="4030752" cy="24244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8D08791-40BC-0700-BFE4-F07485CDB02A}"/>
              </a:ext>
            </a:extLst>
          </p:cNvPr>
          <p:cNvSpPr/>
          <p:nvPr/>
        </p:nvSpPr>
        <p:spPr>
          <a:xfrm>
            <a:off x="828463" y="4777506"/>
            <a:ext cx="1822281" cy="16308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DEC3A1B-8928-3170-E437-A5A3B1D64557}"/>
              </a:ext>
            </a:extLst>
          </p:cNvPr>
          <p:cNvSpPr/>
          <p:nvPr/>
        </p:nvSpPr>
        <p:spPr>
          <a:xfrm>
            <a:off x="828463" y="1857418"/>
            <a:ext cx="1795518" cy="24244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2EDD6D4-A7C3-87D5-BBB4-2330FD1B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Enfoque solución técnico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E96582-00C3-7A2D-95E8-1AACA933F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827" y="5242169"/>
            <a:ext cx="1029258" cy="88594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1658B0E-21D9-7C08-3CBB-94FDB8432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741" y="3910866"/>
            <a:ext cx="1174992" cy="112034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37CBDD-B535-F2B7-57AA-0DD4D1538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3218" y="2930552"/>
            <a:ext cx="543001" cy="8192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C166F53-2A4B-0AE8-A053-5DB7799957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9780" y="2914071"/>
            <a:ext cx="828791" cy="63826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538B4AC-CF09-61A6-BFF2-1BA1AB170B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0827" y="2131774"/>
            <a:ext cx="1190791" cy="895475"/>
          </a:xfrm>
          <a:prstGeom prst="rect">
            <a:avLst/>
          </a:prstGeom>
        </p:spPr>
      </p:pic>
      <p:pic>
        <p:nvPicPr>
          <p:cNvPr id="2050" name="Picture 2" descr="4.893.800+ Celulares Fotografías de stock, fotos e imágenes libres de  derechos - iStock | Tecnologia, Internet, Redes sociales">
            <a:extLst>
              <a:ext uri="{FF2B5EF4-FFF2-40B4-BE49-F238E27FC236}">
                <a16:creationId xmlns:a16="http://schemas.microsoft.com/office/drawing/2014/main" id="{4F1A2015-C20B-B0CC-4E8D-2EE28E157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895" y="3244589"/>
            <a:ext cx="1029258" cy="80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47A87D6-4BC8-90BC-91D3-608E8CF7EBFE}"/>
              </a:ext>
            </a:extLst>
          </p:cNvPr>
          <p:cNvCxnSpPr>
            <a:cxnSpLocks/>
          </p:cNvCxnSpPr>
          <p:nvPr/>
        </p:nvCxnSpPr>
        <p:spPr>
          <a:xfrm flipH="1">
            <a:off x="10140307" y="3611181"/>
            <a:ext cx="777261" cy="55417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F930C38-EA9C-82AE-49DF-8236B43D102B}"/>
              </a:ext>
            </a:extLst>
          </p:cNvPr>
          <p:cNvCxnSpPr>
            <a:cxnSpLocks/>
          </p:cNvCxnSpPr>
          <p:nvPr/>
        </p:nvCxnSpPr>
        <p:spPr>
          <a:xfrm flipH="1" flipV="1">
            <a:off x="8654876" y="3472059"/>
            <a:ext cx="726702" cy="6813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DDBB241-6276-955F-735B-508B306CCEE4}"/>
              </a:ext>
            </a:extLst>
          </p:cNvPr>
          <p:cNvCxnSpPr>
            <a:cxnSpLocks/>
            <a:stCxn id="10" idx="1"/>
            <a:endCxn id="2049" idx="0"/>
          </p:cNvCxnSpPr>
          <p:nvPr/>
        </p:nvCxnSpPr>
        <p:spPr>
          <a:xfrm flipH="1" flipV="1">
            <a:off x="7375712" y="3229484"/>
            <a:ext cx="654068" cy="37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29CC2054-B158-FF97-36AC-7F8A756F7B1B}"/>
              </a:ext>
            </a:extLst>
          </p:cNvPr>
          <p:cNvCxnSpPr>
            <a:cxnSpLocks/>
          </p:cNvCxnSpPr>
          <p:nvPr/>
        </p:nvCxnSpPr>
        <p:spPr>
          <a:xfrm>
            <a:off x="2321618" y="2579512"/>
            <a:ext cx="1482435" cy="4477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0C1EE1DF-158E-F98D-556A-6AF6A3A6841D}"/>
              </a:ext>
            </a:extLst>
          </p:cNvPr>
          <p:cNvCxnSpPr>
            <a:cxnSpLocks/>
            <a:stCxn id="2050" idx="3"/>
            <a:endCxn id="53" idx="1"/>
          </p:cNvCxnSpPr>
          <p:nvPr/>
        </p:nvCxnSpPr>
        <p:spPr>
          <a:xfrm flipV="1">
            <a:off x="2259153" y="3210914"/>
            <a:ext cx="1532992" cy="4339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1B1627DB-9C70-FAB9-EFBA-E21E81CC2BF8}"/>
              </a:ext>
            </a:extLst>
          </p:cNvPr>
          <p:cNvCxnSpPr>
            <a:cxnSpLocks/>
            <a:stCxn id="3" idx="3"/>
            <a:endCxn id="53" idx="2"/>
          </p:cNvCxnSpPr>
          <p:nvPr/>
        </p:nvCxnSpPr>
        <p:spPr>
          <a:xfrm flipV="1">
            <a:off x="2160085" y="3644410"/>
            <a:ext cx="2076194" cy="204073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9" name="Nube 2048">
            <a:extLst>
              <a:ext uri="{FF2B5EF4-FFF2-40B4-BE49-F238E27FC236}">
                <a16:creationId xmlns:a16="http://schemas.microsoft.com/office/drawing/2014/main" id="{DD03E745-1004-D9DC-66FE-017B68E4A832}"/>
              </a:ext>
            </a:extLst>
          </p:cNvPr>
          <p:cNvSpPr/>
          <p:nvPr/>
        </p:nvSpPr>
        <p:spPr>
          <a:xfrm>
            <a:off x="5914384" y="2847786"/>
            <a:ext cx="1462547" cy="763395"/>
          </a:xfrm>
          <a:prstGeom prst="cloud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Internet</a:t>
            </a:r>
          </a:p>
        </p:txBody>
      </p:sp>
      <p:cxnSp>
        <p:nvCxnSpPr>
          <p:cNvPr id="2056" name="Conector recto de flecha 2055">
            <a:extLst>
              <a:ext uri="{FF2B5EF4-FFF2-40B4-BE49-F238E27FC236}">
                <a16:creationId xmlns:a16="http://schemas.microsoft.com/office/drawing/2014/main" id="{A6DE9AF1-D9A1-2838-2849-7B18F3FA3C18}"/>
              </a:ext>
            </a:extLst>
          </p:cNvPr>
          <p:cNvCxnSpPr>
            <a:stCxn id="53" idx="3"/>
            <a:endCxn id="2049" idx="2"/>
          </p:cNvCxnSpPr>
          <p:nvPr/>
        </p:nvCxnSpPr>
        <p:spPr>
          <a:xfrm>
            <a:off x="4680413" y="3210914"/>
            <a:ext cx="1238508" cy="18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A38C99D-1EB3-D286-4B4E-A77CCAD30E8D}"/>
              </a:ext>
            </a:extLst>
          </p:cNvPr>
          <p:cNvSpPr txBox="1"/>
          <p:nvPr/>
        </p:nvSpPr>
        <p:spPr>
          <a:xfrm>
            <a:off x="979644" y="4775212"/>
            <a:ext cx="15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Administrador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06068E-D353-7C9C-75CD-8A4997CF0D14}"/>
              </a:ext>
            </a:extLst>
          </p:cNvPr>
          <p:cNvSpPr txBox="1"/>
          <p:nvPr/>
        </p:nvSpPr>
        <p:spPr>
          <a:xfrm>
            <a:off x="966263" y="1798865"/>
            <a:ext cx="15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Estudiante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B5572B8-FE99-3D20-41C6-54C9DDC08AD8}"/>
              </a:ext>
            </a:extLst>
          </p:cNvPr>
          <p:cNvSpPr txBox="1"/>
          <p:nvPr/>
        </p:nvSpPr>
        <p:spPr>
          <a:xfrm>
            <a:off x="10404677" y="2701073"/>
            <a:ext cx="15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BD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3E1EB98-ED4B-D8FF-DAFB-7F4C53E01E29}"/>
              </a:ext>
            </a:extLst>
          </p:cNvPr>
          <p:cNvSpPr txBox="1"/>
          <p:nvPr/>
        </p:nvSpPr>
        <p:spPr>
          <a:xfrm>
            <a:off x="7724719" y="2729405"/>
            <a:ext cx="151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35336818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1049-9C75-0C0E-749E-31E5EFA8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A010EFE-AD62-866E-EB84-C8BEB85F6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Diagrama de casos de uso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A240A22-AB69-61CB-AA70-4D45BDA70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62" y="1369201"/>
            <a:ext cx="9018876" cy="540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246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B1579-7A39-D202-7745-10D75B22C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8FEAF63-43C6-AB62-9B88-AF05937C5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Diagrama de Secuencia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40AF76-152F-8F3E-C338-5E91DF383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284" y="1435411"/>
            <a:ext cx="6937131" cy="542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027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E647-D9A8-B93E-7EA9-68A637DD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45E3128-6F15-0437-0D21-E64FFC2D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Diagrama de Flujo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D6B022-15A6-500D-A135-EBEE8A6E7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553" y="1395620"/>
            <a:ext cx="8326316" cy="54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4874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6C1C-A610-DD1C-CFF7-2EFDACD7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CCD252B-A5E4-0507-C2C2-4ADD41D9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Herramientas de Desarrollo</a:t>
            </a:r>
          </a:p>
        </p:txBody>
      </p:sp>
      <p:pic>
        <p:nvPicPr>
          <p:cNvPr id="1026" name="Picture 2" descr="Cómo integramos los lenguajes HTML, CSS, y JavaScript?">
            <a:extLst>
              <a:ext uri="{FF2B5EF4-FFF2-40B4-BE49-F238E27FC236}">
                <a16:creationId xmlns:a16="http://schemas.microsoft.com/office/drawing/2014/main" id="{455D74C6-EEBD-5A10-4CF2-4BC5FC3FA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187" y="2766126"/>
            <a:ext cx="2283810" cy="1151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Una Introducción a React y React Native | Wildix">
            <a:extLst>
              <a:ext uri="{FF2B5EF4-FFF2-40B4-BE49-F238E27FC236}">
                <a16:creationId xmlns:a16="http://schemas.microsoft.com/office/drawing/2014/main" id="{093EC936-A505-0981-6001-F9BFB95C5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997" y="1643358"/>
            <a:ext cx="2078724" cy="1151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Why Use Express with Node.js?">
            <a:extLst>
              <a:ext uri="{FF2B5EF4-FFF2-40B4-BE49-F238E27FC236}">
                <a16:creationId xmlns:a16="http://schemas.microsoft.com/office/drawing/2014/main" id="{C635348D-0341-3A74-371E-F23240333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630" y="3730206"/>
            <a:ext cx="2454036" cy="163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ongoDB Compass: A no-code tool for data analysts | by Looi Yih Foo | Medium">
            <a:extLst>
              <a:ext uri="{FF2B5EF4-FFF2-40B4-BE49-F238E27FC236}">
                <a16:creationId xmlns:a16="http://schemas.microsoft.com/office/drawing/2014/main" id="{B3F2C47F-17A7-71FB-2657-CE221A5BD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5838" y="5156808"/>
            <a:ext cx="3014547" cy="1266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Visual Studio Code - Wikipedia">
            <a:extLst>
              <a:ext uri="{FF2B5EF4-FFF2-40B4-BE49-F238E27FC236}">
                <a16:creationId xmlns:a16="http://schemas.microsoft.com/office/drawing/2014/main" id="{265F11E8-4255-FCC2-B8B5-24B0B775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99" y="3034703"/>
            <a:ext cx="1766763" cy="176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errar llave 17">
            <a:extLst>
              <a:ext uri="{FF2B5EF4-FFF2-40B4-BE49-F238E27FC236}">
                <a16:creationId xmlns:a16="http://schemas.microsoft.com/office/drawing/2014/main" id="{4CA2A4FB-1F8D-BD36-90D6-FF1F42281BD3}"/>
              </a:ext>
            </a:extLst>
          </p:cNvPr>
          <p:cNvSpPr/>
          <p:nvPr/>
        </p:nvSpPr>
        <p:spPr>
          <a:xfrm>
            <a:off x="4285024" y="1809883"/>
            <a:ext cx="989950" cy="421640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625DD67-3E0D-A7F4-393F-3DE3838141AA}"/>
              </a:ext>
            </a:extLst>
          </p:cNvPr>
          <p:cNvSpPr txBox="1"/>
          <p:nvPr/>
        </p:nvSpPr>
        <p:spPr>
          <a:xfrm>
            <a:off x="1307097" y="1785343"/>
            <a:ext cx="23124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err="1"/>
              <a:t>Frontend</a:t>
            </a:r>
            <a:r>
              <a:rPr lang="es-CL" sz="2000" b="1" dirty="0"/>
              <a:t>:</a:t>
            </a:r>
          </a:p>
          <a:p>
            <a:r>
              <a:rPr lang="es-CL" sz="2000" dirty="0"/>
              <a:t>HTML5 </a:t>
            </a:r>
          </a:p>
          <a:p>
            <a:r>
              <a:rPr lang="es-CL" sz="2000" dirty="0"/>
              <a:t>CSS3</a:t>
            </a:r>
            <a:br>
              <a:rPr lang="es-CL" sz="2000" dirty="0"/>
            </a:br>
            <a:r>
              <a:rPr lang="es-CL" sz="2000" dirty="0"/>
              <a:t>JS: ECMAScript 2025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3ECED29-8E7E-D3AA-8D5F-AFD84447A369}"/>
              </a:ext>
            </a:extLst>
          </p:cNvPr>
          <p:cNvSpPr txBox="1"/>
          <p:nvPr/>
        </p:nvSpPr>
        <p:spPr>
          <a:xfrm>
            <a:off x="1307097" y="3170263"/>
            <a:ext cx="17618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 err="1"/>
              <a:t>Backend</a:t>
            </a:r>
            <a:r>
              <a:rPr lang="es-CL" sz="2000" b="1" dirty="0"/>
              <a:t>:</a:t>
            </a:r>
          </a:p>
          <a:p>
            <a:r>
              <a:rPr lang="es-CL" sz="2000" dirty="0"/>
              <a:t>Node.js: V25</a:t>
            </a:r>
          </a:p>
          <a:p>
            <a:r>
              <a:rPr lang="es-CL" sz="2000" dirty="0"/>
              <a:t>Express: V5.1.0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F80C846-91C1-47FC-46F6-B93E68B1CA38}"/>
              </a:ext>
            </a:extLst>
          </p:cNvPr>
          <p:cNvSpPr txBox="1"/>
          <p:nvPr/>
        </p:nvSpPr>
        <p:spPr>
          <a:xfrm>
            <a:off x="1300941" y="4390891"/>
            <a:ext cx="29913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/>
              <a:t>Base de datos:</a:t>
            </a:r>
          </a:p>
          <a:p>
            <a:r>
              <a:rPr lang="es-CL" sz="2000" dirty="0"/>
              <a:t>MongoDB </a:t>
            </a:r>
            <a:r>
              <a:rPr lang="es-CL" sz="2000" dirty="0" err="1"/>
              <a:t>Compass</a:t>
            </a:r>
            <a:r>
              <a:rPr lang="es-CL" sz="2000" dirty="0"/>
              <a:t>: 1.48.2</a:t>
            </a:r>
            <a:endParaRPr lang="es-CL" sz="2000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715002C-3359-40AE-7B7C-668A4D44E0B1}"/>
              </a:ext>
            </a:extLst>
          </p:cNvPr>
          <p:cNvSpPr txBox="1"/>
          <p:nvPr/>
        </p:nvSpPr>
        <p:spPr>
          <a:xfrm>
            <a:off x="1307097" y="5303743"/>
            <a:ext cx="25667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/>
              <a:t>Entorno de desarrollo:</a:t>
            </a:r>
          </a:p>
          <a:p>
            <a:r>
              <a:rPr lang="es-CL" sz="2000" dirty="0"/>
              <a:t>VSC: 1.106.2</a:t>
            </a:r>
            <a:endParaRPr lang="es-CL" sz="2000" b="1" dirty="0"/>
          </a:p>
        </p:txBody>
      </p:sp>
    </p:spTree>
    <p:extLst>
      <p:ext uri="{BB962C8B-B14F-4D97-AF65-F5344CB8AC3E}">
        <p14:creationId xmlns:p14="http://schemas.microsoft.com/office/powerpoint/2010/main" val="381692460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915E-8C4A-D8F1-B56D-28725BA8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0417CB3-CF3C-2B01-477B-9334821A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Control de cambios</a:t>
            </a:r>
          </a:p>
        </p:txBody>
      </p:sp>
      <p:pic>
        <p:nvPicPr>
          <p:cNvPr id="1028" name="Picture 4" descr="Unlocking the Power of GitHub: A Comprehensive Guide for Developers and  Teams">
            <a:extLst>
              <a:ext uri="{FF2B5EF4-FFF2-40B4-BE49-F238E27FC236}">
                <a16:creationId xmlns:a16="http://schemas.microsoft.com/office/drawing/2014/main" id="{9E9F6064-9ABC-7493-CD25-A0885F0AA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4" y="3429000"/>
            <a:ext cx="3128067" cy="1159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E25989A-17E7-4649-3C34-46F5F6288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73" y="1929131"/>
            <a:ext cx="8449072" cy="415920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3F73C0-3E0F-5BC9-AFA0-065B060D0A00}"/>
              </a:ext>
            </a:extLst>
          </p:cNvPr>
          <p:cNvSpPr txBox="1"/>
          <p:nvPr/>
        </p:nvSpPr>
        <p:spPr>
          <a:xfrm>
            <a:off x="4846627" y="6141431"/>
            <a:ext cx="60970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dirty="0"/>
              <a:t>https://github.com/DiegoMartinezCasanova/EAPAB-V1</a:t>
            </a:r>
          </a:p>
        </p:txBody>
      </p:sp>
    </p:spTree>
    <p:extLst>
      <p:ext uri="{BB962C8B-B14F-4D97-AF65-F5344CB8AC3E}">
        <p14:creationId xmlns:p14="http://schemas.microsoft.com/office/powerpoint/2010/main" val="28126452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958F-748C-2DDE-D818-5F7A0B444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Ciberseguridad empresarial: estrategias de gestión de riesgos.">
            <a:extLst>
              <a:ext uri="{FF2B5EF4-FFF2-40B4-BE49-F238E27FC236}">
                <a16:creationId xmlns:a16="http://schemas.microsoft.com/office/drawing/2014/main" id="{98A4D68D-522F-3679-8D67-97EAD454B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62" y="4160080"/>
            <a:ext cx="2973029" cy="1762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611C507-5255-5905-5154-97656A04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latin typeface="+mn-lt"/>
              </a:rPr>
              <a:t>Conclusión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AFA0ABE-0813-6BB1-24D5-23CB57637650}"/>
              </a:ext>
            </a:extLst>
          </p:cNvPr>
          <p:cNvSpPr/>
          <p:nvPr/>
        </p:nvSpPr>
        <p:spPr>
          <a:xfrm>
            <a:off x="3579956" y="1785220"/>
            <a:ext cx="1725112" cy="748704"/>
          </a:xfrm>
          <a:prstGeom prst="rect">
            <a:avLst/>
          </a:prstGeom>
          <a:solidFill>
            <a:srgbClr val="FF0000"/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Problema</a:t>
            </a:r>
            <a:endParaRPr lang="es-CL" dirty="0"/>
          </a:p>
        </p:txBody>
      </p:sp>
      <p:pic>
        <p:nvPicPr>
          <p:cNvPr id="7170" name="Picture 2" descr="Phishing señales de alerta y pasos a seguir tras un clic sospechoso -  MasterBase®">
            <a:extLst>
              <a:ext uri="{FF2B5EF4-FFF2-40B4-BE49-F238E27FC236}">
                <a16:creationId xmlns:a16="http://schemas.microsoft.com/office/drawing/2014/main" id="{D7DD2354-A170-5B7C-E56E-A3082CC7B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70" y="1418139"/>
            <a:ext cx="1642392" cy="164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F54FB084-F0F7-EFBA-782C-E0CE6681045E}"/>
              </a:ext>
            </a:extLst>
          </p:cNvPr>
          <p:cNvCxnSpPr>
            <a:cxnSpLocks/>
          </p:cNvCxnSpPr>
          <p:nvPr/>
        </p:nvCxnSpPr>
        <p:spPr>
          <a:xfrm>
            <a:off x="2324829" y="2306841"/>
            <a:ext cx="9880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FE59CE1-862F-3AF2-1BB9-485482D8DF52}"/>
              </a:ext>
            </a:extLst>
          </p:cNvPr>
          <p:cNvCxnSpPr>
            <a:cxnSpLocks/>
          </p:cNvCxnSpPr>
          <p:nvPr/>
        </p:nvCxnSpPr>
        <p:spPr>
          <a:xfrm>
            <a:off x="7218096" y="2214014"/>
            <a:ext cx="11403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2ACA63E-A152-EEBE-135F-3E13BE443B85}"/>
              </a:ext>
            </a:extLst>
          </p:cNvPr>
          <p:cNvSpPr/>
          <p:nvPr/>
        </p:nvSpPr>
        <p:spPr>
          <a:xfrm>
            <a:off x="8481209" y="1787854"/>
            <a:ext cx="1963817" cy="93894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EAPAB</a:t>
            </a:r>
          </a:p>
        </p:txBody>
      </p:sp>
      <p:sp>
        <p:nvSpPr>
          <p:cNvPr id="26" name="Nube 25">
            <a:extLst>
              <a:ext uri="{FF2B5EF4-FFF2-40B4-BE49-F238E27FC236}">
                <a16:creationId xmlns:a16="http://schemas.microsoft.com/office/drawing/2014/main" id="{E65EDC9D-200C-9119-CF4D-6AF87AE22EFA}"/>
              </a:ext>
            </a:extLst>
          </p:cNvPr>
          <p:cNvSpPr/>
          <p:nvPr/>
        </p:nvSpPr>
        <p:spPr>
          <a:xfrm>
            <a:off x="5474123" y="1723062"/>
            <a:ext cx="1564914" cy="938948"/>
          </a:xfrm>
          <a:prstGeom prst="cloud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Ishikawa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46AFFB9-E56C-CEE8-71D6-DF2D0909528F}"/>
              </a:ext>
            </a:extLst>
          </p:cNvPr>
          <p:cNvSpPr/>
          <p:nvPr/>
        </p:nvSpPr>
        <p:spPr>
          <a:xfrm>
            <a:off x="9567444" y="3460066"/>
            <a:ext cx="1810389" cy="7986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Objetivos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83D6C861-0DA3-E1AF-3A21-4A5CF125185C}"/>
              </a:ext>
            </a:extLst>
          </p:cNvPr>
          <p:cNvSpPr/>
          <p:nvPr/>
        </p:nvSpPr>
        <p:spPr>
          <a:xfrm>
            <a:off x="7529990" y="3449684"/>
            <a:ext cx="1810389" cy="7986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Alcance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9E15FE3B-F456-4C2C-F10E-1C0E6EB99547}"/>
              </a:ext>
            </a:extLst>
          </p:cNvPr>
          <p:cNvSpPr/>
          <p:nvPr/>
        </p:nvSpPr>
        <p:spPr>
          <a:xfrm>
            <a:off x="7567996" y="4590753"/>
            <a:ext cx="1810389" cy="7986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Metodología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47CED90C-4D7D-D9BB-929B-936542C9D3F8}"/>
              </a:ext>
            </a:extLst>
          </p:cNvPr>
          <p:cNvSpPr/>
          <p:nvPr/>
        </p:nvSpPr>
        <p:spPr>
          <a:xfrm>
            <a:off x="9567444" y="4601672"/>
            <a:ext cx="1810389" cy="7986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Riesgos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3AC208EA-2BB6-BC82-6F1A-7001A97A4F54}"/>
              </a:ext>
            </a:extLst>
          </p:cNvPr>
          <p:cNvSpPr/>
          <p:nvPr/>
        </p:nvSpPr>
        <p:spPr>
          <a:xfrm>
            <a:off x="9567443" y="5658233"/>
            <a:ext cx="1810389" cy="7986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Gestión de calidad</a:t>
            </a:r>
          </a:p>
        </p:txBody>
      </p:sp>
      <p:sp>
        <p:nvSpPr>
          <p:cNvPr id="45" name="Rectángulo: una sola esquina cortada 44">
            <a:extLst>
              <a:ext uri="{FF2B5EF4-FFF2-40B4-BE49-F238E27FC236}">
                <a16:creationId xmlns:a16="http://schemas.microsoft.com/office/drawing/2014/main" id="{9C0442B8-1EC3-040E-F40F-C80CA098DB7F}"/>
              </a:ext>
            </a:extLst>
          </p:cNvPr>
          <p:cNvSpPr/>
          <p:nvPr/>
        </p:nvSpPr>
        <p:spPr>
          <a:xfrm>
            <a:off x="4731542" y="4288574"/>
            <a:ext cx="1777276" cy="604358"/>
          </a:xfrm>
          <a:prstGeom prst="snip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Requerimientos</a:t>
            </a:r>
          </a:p>
        </p:txBody>
      </p:sp>
      <p:sp>
        <p:nvSpPr>
          <p:cNvPr id="46" name="Rectángulo: una sola esquina cortada 45">
            <a:extLst>
              <a:ext uri="{FF2B5EF4-FFF2-40B4-BE49-F238E27FC236}">
                <a16:creationId xmlns:a16="http://schemas.microsoft.com/office/drawing/2014/main" id="{C8947296-5A01-D37D-1D66-F69EB5A0727D}"/>
              </a:ext>
            </a:extLst>
          </p:cNvPr>
          <p:cNvSpPr/>
          <p:nvPr/>
        </p:nvSpPr>
        <p:spPr>
          <a:xfrm>
            <a:off x="4731542" y="5098190"/>
            <a:ext cx="1800096" cy="604358"/>
          </a:xfrm>
          <a:prstGeom prst="snip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Historias de usuario</a:t>
            </a:r>
          </a:p>
        </p:txBody>
      </p:sp>
      <p:sp>
        <p:nvSpPr>
          <p:cNvPr id="49" name="Rectángulo: una sola esquina cortada 48">
            <a:extLst>
              <a:ext uri="{FF2B5EF4-FFF2-40B4-BE49-F238E27FC236}">
                <a16:creationId xmlns:a16="http://schemas.microsoft.com/office/drawing/2014/main" id="{1077CBC4-BD1F-B30E-F771-8408C64966EC}"/>
              </a:ext>
            </a:extLst>
          </p:cNvPr>
          <p:cNvSpPr/>
          <p:nvPr/>
        </p:nvSpPr>
        <p:spPr>
          <a:xfrm>
            <a:off x="4731542" y="5852572"/>
            <a:ext cx="1800096" cy="604358"/>
          </a:xfrm>
          <a:prstGeom prst="snip1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Diagramas</a:t>
            </a:r>
          </a:p>
        </p:txBody>
      </p:sp>
      <p:pic>
        <p:nvPicPr>
          <p:cNvPr id="50" name="Picture 8" descr="Una Introducción a React y React Native | Wildix">
            <a:extLst>
              <a:ext uri="{FF2B5EF4-FFF2-40B4-BE49-F238E27FC236}">
                <a16:creationId xmlns:a16="http://schemas.microsoft.com/office/drawing/2014/main" id="{D13D4ABF-101B-DA09-8FEB-6E6AEED97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956" y="3639005"/>
            <a:ext cx="940286" cy="52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Cómo integramos los lenguajes HTML, CSS, y JavaScript?">
            <a:extLst>
              <a:ext uri="{FF2B5EF4-FFF2-40B4-BE49-F238E27FC236}">
                <a16:creationId xmlns:a16="http://schemas.microsoft.com/office/drawing/2014/main" id="{E33D3309-1112-76AD-6F71-A74FF31DB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52" y="4295994"/>
            <a:ext cx="1033054" cy="52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0" descr="Why Use Express with Node.js?">
            <a:extLst>
              <a:ext uri="{FF2B5EF4-FFF2-40B4-BE49-F238E27FC236}">
                <a16:creationId xmlns:a16="http://schemas.microsoft.com/office/drawing/2014/main" id="{23765BEE-CD31-E6EB-D44A-25082433B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280" y="4881451"/>
            <a:ext cx="1074729" cy="715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MongoDB Compass: A no-code tool for data analysts | by Looi Yih Foo | Medium">
            <a:extLst>
              <a:ext uri="{FF2B5EF4-FFF2-40B4-BE49-F238E27FC236}">
                <a16:creationId xmlns:a16="http://schemas.microsoft.com/office/drawing/2014/main" id="{DDF8F63C-7CF0-DA23-41B7-153F55C7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77" y="5605944"/>
            <a:ext cx="1257684" cy="528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Abrir llave 53">
            <a:extLst>
              <a:ext uri="{FF2B5EF4-FFF2-40B4-BE49-F238E27FC236}">
                <a16:creationId xmlns:a16="http://schemas.microsoft.com/office/drawing/2014/main" id="{883D0354-3B64-D3BA-8CE4-E5A882E4838E}"/>
              </a:ext>
            </a:extLst>
          </p:cNvPr>
          <p:cNvSpPr/>
          <p:nvPr/>
        </p:nvSpPr>
        <p:spPr>
          <a:xfrm>
            <a:off x="2498025" y="3492870"/>
            <a:ext cx="984974" cy="28943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5" name="Cerrar llave 54">
            <a:extLst>
              <a:ext uri="{FF2B5EF4-FFF2-40B4-BE49-F238E27FC236}">
                <a16:creationId xmlns:a16="http://schemas.microsoft.com/office/drawing/2014/main" id="{037B394B-8B13-C3AA-D46B-DC6068580B9B}"/>
              </a:ext>
            </a:extLst>
          </p:cNvPr>
          <p:cNvSpPr/>
          <p:nvPr/>
        </p:nvSpPr>
        <p:spPr>
          <a:xfrm rot="5400000">
            <a:off x="9293248" y="1376438"/>
            <a:ext cx="298321" cy="326803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1B5D5FDB-2FA6-47EB-DE84-32F9093A4901}"/>
              </a:ext>
            </a:extLst>
          </p:cNvPr>
          <p:cNvSpPr/>
          <p:nvPr/>
        </p:nvSpPr>
        <p:spPr>
          <a:xfrm>
            <a:off x="7567996" y="5649128"/>
            <a:ext cx="1810389" cy="79869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Gestión de tiempo</a:t>
            </a:r>
          </a:p>
        </p:txBody>
      </p:sp>
      <p:pic>
        <p:nvPicPr>
          <p:cNvPr id="7176" name="Picture 8" descr="Ventajas y desventajas de la metodología Scrum">
            <a:extLst>
              <a:ext uri="{FF2B5EF4-FFF2-40B4-BE49-F238E27FC236}">
                <a16:creationId xmlns:a16="http://schemas.microsoft.com/office/drawing/2014/main" id="{9FF9AF4F-964C-1E60-6A5F-0DDD02704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7" y="3061681"/>
            <a:ext cx="1999100" cy="133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errar llave 1">
            <a:extLst>
              <a:ext uri="{FF2B5EF4-FFF2-40B4-BE49-F238E27FC236}">
                <a16:creationId xmlns:a16="http://schemas.microsoft.com/office/drawing/2014/main" id="{32689572-577D-4411-7636-BD89289D1AAC}"/>
              </a:ext>
            </a:extLst>
          </p:cNvPr>
          <p:cNvSpPr/>
          <p:nvPr/>
        </p:nvSpPr>
        <p:spPr>
          <a:xfrm rot="10800000">
            <a:off x="6956948" y="3306016"/>
            <a:ext cx="298321" cy="326803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991207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43311</TotalTime>
  <Words>2545</Words>
  <Application>Microsoft Office PowerPoint</Application>
  <PresentationFormat>Panorámica</PresentationFormat>
  <Paragraphs>603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Gungsuh</vt:lpstr>
      <vt:lpstr>Arial</vt:lpstr>
      <vt:lpstr>Calibri</vt:lpstr>
      <vt:lpstr>Calibri Light</vt:lpstr>
      <vt:lpstr>Tema de Office</vt:lpstr>
      <vt:lpstr>Tema de Office</vt:lpstr>
      <vt:lpstr>Presentación de PowerPoint</vt:lpstr>
      <vt:lpstr>Contextualización del Proyecto</vt:lpstr>
      <vt:lpstr>Identificación del Problema</vt:lpstr>
      <vt:lpstr>Objetivo General</vt:lpstr>
      <vt:lpstr>Objetivos Específicos</vt:lpstr>
      <vt:lpstr>Objetivos Específicos</vt:lpstr>
      <vt:lpstr>Plan de Gestión de Alcance</vt:lpstr>
      <vt:lpstr>Plan de Gestión de Riesgo</vt:lpstr>
      <vt:lpstr>Plan de Gestión de Riesgo - Matriz</vt:lpstr>
      <vt:lpstr>Plan de Gestión de Calidad – ISO 9001:2015</vt:lpstr>
      <vt:lpstr>Comparativa de Metodologías</vt:lpstr>
      <vt:lpstr>Requerimientos Funcionales</vt:lpstr>
      <vt:lpstr>Requerimientos No Funcionales</vt:lpstr>
      <vt:lpstr>Historias de Usuario</vt:lpstr>
      <vt:lpstr>Plan de Gestión de Tiempo</vt:lpstr>
      <vt:lpstr>Enfoque solución técnico</vt:lpstr>
      <vt:lpstr>Diagrama de casos de uso</vt:lpstr>
      <vt:lpstr>Diagrama de Secuencia</vt:lpstr>
      <vt:lpstr>Diagrama de Flujo</vt:lpstr>
      <vt:lpstr>Herramientas de Desarrollo</vt:lpstr>
      <vt:lpstr>Control de cambios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Diego Martinez</cp:lastModifiedBy>
  <cp:revision>311</cp:revision>
  <dcterms:created xsi:type="dcterms:W3CDTF">2018-06-26T20:44:09Z</dcterms:created>
  <dcterms:modified xsi:type="dcterms:W3CDTF">2025-11-29T14:02:27Z</dcterms:modified>
</cp:coreProperties>
</file>